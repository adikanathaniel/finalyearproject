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sldIdLst>
    <p:sldId id="256" r:id="rId3"/>
    <p:sldId id="359" r:id="rId4"/>
    <p:sldId id="417" r:id="rId5"/>
    <p:sldId id="425" r:id="rId6"/>
    <p:sldId id="440" r:id="rId7"/>
    <p:sldId id="459" r:id="rId8"/>
    <p:sldId id="444" r:id="rId9"/>
    <p:sldId id="460" r:id="rId10"/>
    <p:sldId id="445" r:id="rId11"/>
    <p:sldId id="461" r:id="rId12"/>
    <p:sldId id="441" r:id="rId13"/>
    <p:sldId id="442" r:id="rId14"/>
    <p:sldId id="463" r:id="rId15"/>
    <p:sldId id="448" r:id="rId16"/>
    <p:sldId id="462" r:id="rId17"/>
    <p:sldId id="449" r:id="rId18"/>
    <p:sldId id="464" r:id="rId19"/>
    <p:sldId id="454" r:id="rId20"/>
    <p:sldId id="443" r:id="rId21"/>
    <p:sldId id="450" r:id="rId22"/>
    <p:sldId id="465" r:id="rId23"/>
    <p:sldId id="466" r:id="rId24"/>
    <p:sldId id="453" r:id="rId25"/>
    <p:sldId id="433" r:id="rId26"/>
    <p:sldId id="468" r:id="rId27"/>
    <p:sldId id="469" r:id="rId28"/>
    <p:sldId id="470" r:id="rId29"/>
    <p:sldId id="471" r:id="rId30"/>
    <p:sldId id="472" r:id="rId31"/>
    <p:sldId id="473" r:id="rId32"/>
    <p:sldId id="474" r:id="rId33"/>
    <p:sldId id="475" r:id="rId34"/>
    <p:sldId id="476" r:id="rId35"/>
    <p:sldId id="477" r:id="rId36"/>
    <p:sldId id="478" r:id="rId37"/>
    <p:sldId id="479" r:id="rId38"/>
    <p:sldId id="480" r:id="rId39"/>
    <p:sldId id="481" r:id="rId40"/>
    <p:sldId id="482" r:id="rId41"/>
    <p:sldId id="483" r:id="rId42"/>
    <p:sldId id="484" r:id="rId43"/>
    <p:sldId id="301" r:id="rId44"/>
  </p:sldIdLst>
  <p:sldSz cx="10693400" cy="7562850"/>
  <p:notesSz cx="10693400" cy="75628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58" d="100"/>
          <a:sy n="58" d="100"/>
        </p:scale>
        <p:origin x="1464" y="54"/>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notesMaster" Target="notesMasters/notesMaster1.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057900" y="0"/>
            <a:ext cx="4632325" cy="379413"/>
          </a:xfrm>
          <a:prstGeom prst="rect">
            <a:avLst/>
          </a:prstGeom>
        </p:spPr>
        <p:txBody>
          <a:bodyPr vert="horz" lIns="91440" tIns="45720" rIns="91440" bIns="45720" rtlCol="0"/>
          <a:lstStyle>
            <a:lvl1pPr algn="r">
              <a:defRPr sz="1200"/>
            </a:lvl1pPr>
          </a:lstStyle>
          <a:p>
            <a:fld id="{702880FF-4FCB-42DC-B8CA-5F43E197EBE2}" type="datetimeFigureOut">
              <a:rPr lang="en-US" smtClean="0"/>
            </a:fld>
            <a:endParaRPr lang="en-US"/>
          </a:p>
        </p:txBody>
      </p:sp>
      <p:sp>
        <p:nvSpPr>
          <p:cNvPr id="4" name="Slide Image Placeholder 3"/>
          <p:cNvSpPr>
            <a:spLocks noGrp="1" noRot="1" noChangeAspect="1"/>
          </p:cNvSpPr>
          <p:nvPr>
            <p:ph type="sldImg" idx="2"/>
          </p:nvPr>
        </p:nvSpPr>
        <p:spPr>
          <a:xfrm>
            <a:off x="3543300" y="946150"/>
            <a:ext cx="3606800" cy="255111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069975" y="3640138"/>
            <a:ext cx="8553450" cy="29781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7183438"/>
            <a:ext cx="4633913" cy="3794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057900" y="7183438"/>
            <a:ext cx="4632325" cy="379412"/>
          </a:xfrm>
          <a:prstGeom prst="rect">
            <a:avLst/>
          </a:prstGeom>
        </p:spPr>
        <p:txBody>
          <a:bodyPr vert="horz" lIns="91440" tIns="45720" rIns="91440" bIns="45720" rtlCol="0" anchor="b"/>
          <a:lstStyle>
            <a:lvl1pPr algn="r">
              <a:defRPr sz="1200"/>
            </a:lvl1pPr>
          </a:lstStyle>
          <a:p>
            <a:fld id="{C5C1F1E3-D0FF-4924-8EFC-E0C5A02E1698}"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02005" y="2344483"/>
            <a:ext cx="9089390" cy="1588198"/>
          </a:xfrm>
          <a:prstGeom prst="rect">
            <a:avLst/>
          </a:prstGeom>
        </p:spPr>
        <p:txBody>
          <a:bodyPr wrap="square" lIns="0" tIns="0" rIns="0" bIns="0">
            <a:spAutoFit/>
          </a:bodyPr>
          <a:lstStyle>
            <a:lvl1pPr>
              <a:defRPr/>
            </a:lvl1pPr>
          </a:lstStyle>
          <a:p/>
        </p:txBody>
      </p:sp>
      <p:sp>
        <p:nvSpPr>
          <p:cNvPr id="3" name="Holder 3"/>
          <p:cNvSpPr>
            <a:spLocks noGrp="1"/>
          </p:cNvSpPr>
          <p:nvPr>
            <p:ph type="subTitle" idx="4"/>
          </p:nvPr>
        </p:nvSpPr>
        <p:spPr>
          <a:xfrm>
            <a:off x="1604010" y="4235196"/>
            <a:ext cx="7485380" cy="1890712"/>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defRPr sz="1050" b="1" i="0">
                <a:solidFill>
                  <a:srgbClr val="282781"/>
                </a:solidFill>
                <a:latin typeface="Arial" panose="020B0604020202020204"/>
                <a:cs typeface="Arial" panose="020B0604020202020204"/>
              </a:defRPr>
            </a:lvl1pPr>
          </a:lstStyle>
          <a:p>
            <a:pPr marL="12700">
              <a:lnSpc>
                <a:spcPts val="1135"/>
              </a:lnSpc>
            </a:pPr>
            <a:r>
              <a:t>UNIVERSITY </a:t>
            </a:r>
            <a:r>
              <a:rPr spc="30"/>
              <a:t>OF</a:t>
            </a:r>
            <a:r>
              <a:t> </a:t>
            </a:r>
            <a:r>
              <a:rPr spc="65"/>
              <a:t>GHANA</a:t>
            </a:r>
            <a:endParaRPr spc="6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bg1"/>
                </a:solidFill>
                <a:latin typeface="Arial" panose="020B0604020202020204"/>
                <a:cs typeface="Arial" panose="020B0604020202020204"/>
              </a:defRPr>
            </a:lvl1pPr>
          </a:lstStyle>
          <a:p/>
        </p:txBody>
      </p:sp>
      <p:sp>
        <p:nvSpPr>
          <p:cNvPr id="3" name="Holder 3"/>
          <p:cNvSpPr>
            <a:spLocks noGrp="1"/>
          </p:cNvSpPr>
          <p:nvPr>
            <p:ph type="body" idx="1"/>
          </p:nvPr>
        </p:nvSpPr>
        <p:spPr/>
        <p:txBody>
          <a:bodyPr lIns="0" tIns="0" rIns="0" bIns="0"/>
          <a:lstStyle>
            <a:lvl1pPr>
              <a:defRPr/>
            </a:lvl1pPr>
          </a:lstStyle>
          <a:p/>
        </p:txBody>
      </p:sp>
      <p:sp>
        <p:nvSpPr>
          <p:cNvPr id="4" name="Holder 4"/>
          <p:cNvSpPr>
            <a:spLocks noGrp="1"/>
          </p:cNvSpPr>
          <p:nvPr>
            <p:ph type="ftr" sz="quarter" idx="5"/>
          </p:nvPr>
        </p:nvSpPr>
        <p:spPr/>
        <p:txBody>
          <a:bodyPr lIns="0" tIns="0" rIns="0" bIns="0"/>
          <a:lstStyle>
            <a:lvl1pPr>
              <a:defRPr sz="1050" b="1" i="0">
                <a:solidFill>
                  <a:srgbClr val="282781"/>
                </a:solidFill>
                <a:latin typeface="Arial" panose="020B0604020202020204"/>
                <a:cs typeface="Arial" panose="020B0604020202020204"/>
              </a:defRPr>
            </a:lvl1pPr>
          </a:lstStyle>
          <a:p>
            <a:pPr marL="12700">
              <a:lnSpc>
                <a:spcPts val="1135"/>
              </a:lnSpc>
            </a:pPr>
            <a:r>
              <a:t>UNIVERSITY </a:t>
            </a:r>
            <a:r>
              <a:rPr spc="30"/>
              <a:t>OF</a:t>
            </a:r>
            <a:r>
              <a:t> </a:t>
            </a:r>
            <a:r>
              <a:rPr spc="65"/>
              <a:t>GHANA</a:t>
            </a:r>
            <a:endParaRPr spc="6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bg1"/>
                </a:solidFill>
                <a:latin typeface="Arial" panose="020B0604020202020204"/>
                <a:cs typeface="Arial" panose="020B0604020202020204"/>
              </a:defRPr>
            </a:lvl1pPr>
          </a:lstStyle>
          <a:p/>
        </p:txBody>
      </p:sp>
      <p:sp>
        <p:nvSpPr>
          <p:cNvPr id="3" name="Holder 3"/>
          <p:cNvSpPr>
            <a:spLocks noGrp="1"/>
          </p:cNvSpPr>
          <p:nvPr>
            <p:ph sz="half" idx="2"/>
          </p:nvPr>
        </p:nvSpPr>
        <p:spPr>
          <a:xfrm>
            <a:off x="534670" y="1739455"/>
            <a:ext cx="4651629" cy="499148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5507101" y="1739455"/>
            <a:ext cx="4651629" cy="499148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defRPr sz="1050" b="1" i="0">
                <a:solidFill>
                  <a:srgbClr val="282781"/>
                </a:solidFill>
                <a:latin typeface="Arial" panose="020B0604020202020204"/>
                <a:cs typeface="Arial" panose="020B0604020202020204"/>
              </a:defRPr>
            </a:lvl1pPr>
          </a:lstStyle>
          <a:p>
            <a:pPr marL="12700">
              <a:lnSpc>
                <a:spcPts val="1135"/>
              </a:lnSpc>
            </a:pPr>
            <a:r>
              <a:t>UNIVERSITY </a:t>
            </a:r>
            <a:r>
              <a:rPr spc="30"/>
              <a:t>OF</a:t>
            </a:r>
            <a:r>
              <a:t> </a:t>
            </a:r>
            <a:r>
              <a:rPr spc="65"/>
              <a:t>GHANA</a:t>
            </a:r>
            <a:endParaRPr spc="6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bg1"/>
                </a:solidFill>
                <a:latin typeface="Arial" panose="020B0604020202020204"/>
                <a:cs typeface="Arial" panose="020B0604020202020204"/>
              </a:defRPr>
            </a:lvl1pPr>
          </a:lstStyle>
          <a:p/>
        </p:txBody>
      </p:sp>
      <p:sp>
        <p:nvSpPr>
          <p:cNvPr id="3" name="Holder 3"/>
          <p:cNvSpPr>
            <a:spLocks noGrp="1"/>
          </p:cNvSpPr>
          <p:nvPr>
            <p:ph type="ftr" sz="quarter" idx="5"/>
          </p:nvPr>
        </p:nvSpPr>
        <p:spPr/>
        <p:txBody>
          <a:bodyPr lIns="0" tIns="0" rIns="0" bIns="0"/>
          <a:lstStyle>
            <a:lvl1pPr>
              <a:defRPr sz="1050" b="1" i="0">
                <a:solidFill>
                  <a:srgbClr val="282781"/>
                </a:solidFill>
                <a:latin typeface="Arial" panose="020B0604020202020204"/>
                <a:cs typeface="Arial" panose="020B0604020202020204"/>
              </a:defRPr>
            </a:lvl1pPr>
          </a:lstStyle>
          <a:p>
            <a:pPr marL="12700">
              <a:lnSpc>
                <a:spcPts val="1135"/>
              </a:lnSpc>
            </a:pPr>
            <a:r>
              <a:t>UNIVERSITY </a:t>
            </a:r>
            <a:r>
              <a:rPr spc="30"/>
              <a:t>OF</a:t>
            </a:r>
            <a:r>
              <a:t> </a:t>
            </a:r>
            <a:r>
              <a:rPr spc="65"/>
              <a:t>GHANA</a:t>
            </a:r>
            <a:endParaRPr spc="65"/>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050" b="1" i="0">
                <a:solidFill>
                  <a:srgbClr val="282781"/>
                </a:solidFill>
                <a:latin typeface="Arial" panose="020B0604020202020204"/>
                <a:cs typeface="Arial" panose="020B0604020202020204"/>
              </a:defRPr>
            </a:lvl1pPr>
          </a:lstStyle>
          <a:p>
            <a:pPr marL="12700">
              <a:lnSpc>
                <a:spcPts val="1135"/>
              </a:lnSpc>
            </a:pPr>
            <a:r>
              <a:t>UNIVERSITY </a:t>
            </a:r>
            <a:r>
              <a:rPr spc="30"/>
              <a:t>OF</a:t>
            </a:r>
            <a:r>
              <a:t> </a:t>
            </a:r>
            <a:r>
              <a:rPr spc="65"/>
              <a:t>GHANA</a:t>
            </a:r>
            <a:endParaRPr spc="65"/>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0692130" cy="326390"/>
          </a:xfrm>
          <a:custGeom>
            <a:avLst/>
            <a:gdLst/>
            <a:ahLst/>
            <a:cxnLst/>
            <a:rect l="l" t="t" r="r" b="b"/>
            <a:pathLst>
              <a:path w="10692130" h="326390">
                <a:moveTo>
                  <a:pt x="0" y="326134"/>
                </a:moveTo>
                <a:lnTo>
                  <a:pt x="10692000" y="326134"/>
                </a:lnTo>
                <a:lnTo>
                  <a:pt x="10692000" y="0"/>
                </a:lnTo>
                <a:lnTo>
                  <a:pt x="0" y="0"/>
                </a:lnTo>
                <a:lnTo>
                  <a:pt x="0" y="326134"/>
                </a:lnTo>
                <a:close/>
              </a:path>
            </a:pathLst>
          </a:custGeom>
          <a:solidFill>
            <a:srgbClr val="EEEDF6"/>
          </a:solidFill>
        </p:spPr>
        <p:txBody>
          <a:bodyPr wrap="square" lIns="0" tIns="0" rIns="0" bIns="0" rtlCol="0"/>
          <a:lstStyle/>
          <a:p/>
        </p:txBody>
      </p:sp>
      <p:sp>
        <p:nvSpPr>
          <p:cNvPr id="17" name="bg object 17"/>
          <p:cNvSpPr/>
          <p:nvPr/>
        </p:nvSpPr>
        <p:spPr>
          <a:xfrm>
            <a:off x="0" y="1874768"/>
            <a:ext cx="10692130" cy="5685790"/>
          </a:xfrm>
          <a:custGeom>
            <a:avLst/>
            <a:gdLst/>
            <a:ahLst/>
            <a:cxnLst/>
            <a:rect l="l" t="t" r="r" b="b"/>
            <a:pathLst>
              <a:path w="10692130" h="5685790">
                <a:moveTo>
                  <a:pt x="10691990" y="108064"/>
                </a:moveTo>
                <a:lnTo>
                  <a:pt x="0" y="108064"/>
                </a:lnTo>
                <a:lnTo>
                  <a:pt x="0" y="5685231"/>
                </a:lnTo>
                <a:lnTo>
                  <a:pt x="10691990" y="5685231"/>
                </a:lnTo>
                <a:lnTo>
                  <a:pt x="10691990" y="108064"/>
                </a:lnTo>
                <a:close/>
              </a:path>
              <a:path w="10692130" h="5685790">
                <a:moveTo>
                  <a:pt x="10691990" y="0"/>
                </a:moveTo>
                <a:lnTo>
                  <a:pt x="0" y="0"/>
                </a:lnTo>
                <a:lnTo>
                  <a:pt x="0" y="3683"/>
                </a:lnTo>
                <a:lnTo>
                  <a:pt x="10691990" y="3683"/>
                </a:lnTo>
                <a:lnTo>
                  <a:pt x="10691990" y="0"/>
                </a:lnTo>
                <a:close/>
              </a:path>
            </a:pathLst>
          </a:custGeom>
          <a:solidFill>
            <a:srgbClr val="EEEDF6"/>
          </a:solidFill>
        </p:spPr>
        <p:txBody>
          <a:bodyPr wrap="square" lIns="0" tIns="0" rIns="0" bIns="0" rtlCol="0"/>
          <a:lstStyle/>
          <a:p/>
        </p:txBody>
      </p:sp>
      <p:sp>
        <p:nvSpPr>
          <p:cNvPr id="18" name="bg object 18"/>
          <p:cNvSpPr/>
          <p:nvPr/>
        </p:nvSpPr>
        <p:spPr>
          <a:xfrm>
            <a:off x="0" y="430513"/>
            <a:ext cx="10692130" cy="1444625"/>
          </a:xfrm>
          <a:custGeom>
            <a:avLst/>
            <a:gdLst/>
            <a:ahLst/>
            <a:cxnLst/>
            <a:rect l="l" t="t" r="r" b="b"/>
            <a:pathLst>
              <a:path w="10692130" h="1444625">
                <a:moveTo>
                  <a:pt x="10692000" y="0"/>
                </a:moveTo>
                <a:lnTo>
                  <a:pt x="0" y="0"/>
                </a:lnTo>
                <a:lnTo>
                  <a:pt x="0" y="1444251"/>
                </a:lnTo>
                <a:lnTo>
                  <a:pt x="10692000" y="1444251"/>
                </a:lnTo>
                <a:lnTo>
                  <a:pt x="10692000" y="0"/>
                </a:lnTo>
                <a:close/>
              </a:path>
            </a:pathLst>
          </a:custGeom>
          <a:solidFill>
            <a:srgbClr val="282781"/>
          </a:solidFill>
        </p:spPr>
        <p:txBody>
          <a:bodyPr wrap="square" lIns="0" tIns="0" rIns="0" bIns="0" rtlCol="0"/>
          <a:lstStyle/>
          <a:p/>
        </p:txBody>
      </p:sp>
      <p:sp>
        <p:nvSpPr>
          <p:cNvPr id="19" name="bg object 19"/>
          <p:cNvSpPr/>
          <p:nvPr/>
        </p:nvSpPr>
        <p:spPr>
          <a:xfrm>
            <a:off x="0" y="326142"/>
            <a:ext cx="10692130" cy="1656714"/>
          </a:xfrm>
          <a:custGeom>
            <a:avLst/>
            <a:gdLst/>
            <a:ahLst/>
            <a:cxnLst/>
            <a:rect l="l" t="t" r="r" b="b"/>
            <a:pathLst>
              <a:path w="10692130" h="1656714">
                <a:moveTo>
                  <a:pt x="10691990" y="1552308"/>
                </a:moveTo>
                <a:lnTo>
                  <a:pt x="0" y="1552308"/>
                </a:lnTo>
                <a:lnTo>
                  <a:pt x="0" y="1656689"/>
                </a:lnTo>
                <a:lnTo>
                  <a:pt x="10691990" y="1656689"/>
                </a:lnTo>
                <a:lnTo>
                  <a:pt x="10691990" y="1552308"/>
                </a:lnTo>
                <a:close/>
              </a:path>
              <a:path w="10692130" h="1656714">
                <a:moveTo>
                  <a:pt x="10691990" y="0"/>
                </a:moveTo>
                <a:lnTo>
                  <a:pt x="0" y="0"/>
                </a:lnTo>
                <a:lnTo>
                  <a:pt x="0" y="104381"/>
                </a:lnTo>
                <a:lnTo>
                  <a:pt x="10691990" y="104381"/>
                </a:lnTo>
                <a:lnTo>
                  <a:pt x="10691990" y="0"/>
                </a:lnTo>
                <a:close/>
              </a:path>
            </a:pathLst>
          </a:custGeom>
          <a:solidFill>
            <a:srgbClr val="D2AB67"/>
          </a:solidFill>
        </p:spPr>
        <p:txBody>
          <a:bodyPr wrap="square" lIns="0" tIns="0" rIns="0" bIns="0" rtlCol="0"/>
          <a:lstStyle/>
          <a:p/>
        </p:txBody>
      </p:sp>
      <p:sp>
        <p:nvSpPr>
          <p:cNvPr id="2" name="Holder 2"/>
          <p:cNvSpPr>
            <a:spLocks noGrp="1"/>
          </p:cNvSpPr>
          <p:nvPr>
            <p:ph type="title"/>
          </p:nvPr>
        </p:nvSpPr>
        <p:spPr>
          <a:xfrm>
            <a:off x="4776001" y="922297"/>
            <a:ext cx="1141397" cy="695960"/>
          </a:xfrm>
          <a:prstGeom prst="rect">
            <a:avLst/>
          </a:prstGeom>
        </p:spPr>
        <p:txBody>
          <a:bodyPr wrap="square" lIns="0" tIns="0" rIns="0" bIns="0">
            <a:spAutoFit/>
          </a:bodyPr>
          <a:lstStyle>
            <a:lvl1pPr>
              <a:defRPr sz="4400" b="1" i="0">
                <a:solidFill>
                  <a:schemeClr val="bg1"/>
                </a:solidFill>
                <a:latin typeface="Arial" panose="020B0604020202020204"/>
                <a:cs typeface="Arial" panose="020B0604020202020204"/>
              </a:defRPr>
            </a:lvl1pPr>
          </a:lstStyle>
          <a:p/>
        </p:txBody>
      </p:sp>
      <p:sp>
        <p:nvSpPr>
          <p:cNvPr id="3" name="Holder 3"/>
          <p:cNvSpPr>
            <a:spLocks noGrp="1"/>
          </p:cNvSpPr>
          <p:nvPr>
            <p:ph type="body" idx="1"/>
          </p:nvPr>
        </p:nvSpPr>
        <p:spPr>
          <a:xfrm>
            <a:off x="534670" y="1739455"/>
            <a:ext cx="9624060" cy="4991481"/>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a:xfrm>
            <a:off x="8715147" y="6899328"/>
            <a:ext cx="1635125" cy="163829"/>
          </a:xfrm>
          <a:prstGeom prst="rect">
            <a:avLst/>
          </a:prstGeom>
        </p:spPr>
        <p:txBody>
          <a:bodyPr wrap="square" lIns="0" tIns="0" rIns="0" bIns="0">
            <a:spAutoFit/>
          </a:bodyPr>
          <a:lstStyle>
            <a:lvl1pPr>
              <a:defRPr sz="1050" b="1" i="0">
                <a:solidFill>
                  <a:srgbClr val="282781"/>
                </a:solidFill>
                <a:latin typeface="Arial" panose="020B0604020202020204"/>
                <a:cs typeface="Arial" panose="020B0604020202020204"/>
              </a:defRPr>
            </a:lvl1pPr>
          </a:lstStyle>
          <a:p>
            <a:pPr marL="12700">
              <a:lnSpc>
                <a:spcPts val="1135"/>
              </a:lnSpc>
            </a:pPr>
            <a:r>
              <a:t>UNIVERSITY </a:t>
            </a:r>
            <a:r>
              <a:rPr spc="30"/>
              <a:t>OF</a:t>
            </a:r>
            <a:r>
              <a:t> </a:t>
            </a:r>
            <a:r>
              <a:rPr spc="65"/>
              <a:t>GHANA</a:t>
            </a:r>
            <a:endParaRPr spc="65"/>
          </a:p>
        </p:txBody>
      </p:sp>
      <p:sp>
        <p:nvSpPr>
          <p:cNvPr id="5" name="Holder 5"/>
          <p:cNvSpPr>
            <a:spLocks noGrp="1"/>
          </p:cNvSpPr>
          <p:nvPr>
            <p:ph type="dt" sz="half" idx="6"/>
          </p:nvPr>
        </p:nvSpPr>
        <p:spPr>
          <a:xfrm>
            <a:off x="534670" y="7033450"/>
            <a:ext cx="2459482" cy="3781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7699248" y="7033450"/>
            <a:ext cx="2459482" cy="37814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0692130" cy="5039995"/>
            <a:chOff x="0" y="0"/>
            <a:chExt cx="10692130" cy="5039995"/>
          </a:xfrm>
        </p:grpSpPr>
        <p:sp>
          <p:nvSpPr>
            <p:cNvPr id="3" name="object 3"/>
            <p:cNvSpPr/>
            <p:nvPr/>
          </p:nvSpPr>
          <p:spPr>
            <a:xfrm>
              <a:off x="0" y="0"/>
              <a:ext cx="10692130" cy="4720590"/>
            </a:xfrm>
            <a:custGeom>
              <a:avLst/>
              <a:gdLst/>
              <a:ahLst/>
              <a:cxnLst/>
              <a:rect l="l" t="t" r="r" b="b"/>
              <a:pathLst>
                <a:path w="10692130" h="4720590">
                  <a:moveTo>
                    <a:pt x="10692000" y="0"/>
                  </a:moveTo>
                  <a:lnTo>
                    <a:pt x="0" y="0"/>
                  </a:lnTo>
                  <a:lnTo>
                    <a:pt x="0" y="4720226"/>
                  </a:lnTo>
                  <a:lnTo>
                    <a:pt x="10692000" y="4720226"/>
                  </a:lnTo>
                  <a:lnTo>
                    <a:pt x="10692000" y="0"/>
                  </a:lnTo>
                  <a:close/>
                </a:path>
              </a:pathLst>
            </a:custGeom>
            <a:solidFill>
              <a:srgbClr val="282781"/>
            </a:solidFill>
          </p:spPr>
          <p:txBody>
            <a:bodyPr wrap="square" lIns="0" tIns="0" rIns="0" bIns="0" rtlCol="0"/>
            <a:lstStyle/>
            <a:p/>
          </p:txBody>
        </p:sp>
        <p:sp>
          <p:nvSpPr>
            <p:cNvPr id="4" name="object 4"/>
            <p:cNvSpPr/>
            <p:nvPr/>
          </p:nvSpPr>
          <p:spPr>
            <a:xfrm>
              <a:off x="0" y="4720226"/>
              <a:ext cx="10692130" cy="319405"/>
            </a:xfrm>
            <a:custGeom>
              <a:avLst/>
              <a:gdLst/>
              <a:ahLst/>
              <a:cxnLst/>
              <a:rect l="l" t="t" r="r" b="b"/>
              <a:pathLst>
                <a:path w="10692130" h="319404">
                  <a:moveTo>
                    <a:pt x="10692000" y="0"/>
                  </a:moveTo>
                  <a:lnTo>
                    <a:pt x="0" y="0"/>
                  </a:lnTo>
                  <a:lnTo>
                    <a:pt x="0" y="319218"/>
                  </a:lnTo>
                  <a:lnTo>
                    <a:pt x="10692000" y="319218"/>
                  </a:lnTo>
                  <a:lnTo>
                    <a:pt x="10692000" y="0"/>
                  </a:lnTo>
                  <a:close/>
                </a:path>
              </a:pathLst>
            </a:custGeom>
            <a:solidFill>
              <a:srgbClr val="D2AB67"/>
            </a:solidFill>
          </p:spPr>
          <p:txBody>
            <a:bodyPr wrap="square" lIns="0" tIns="0" rIns="0" bIns="0" rtlCol="0"/>
            <a:lstStyle/>
            <a:p/>
          </p:txBody>
        </p:sp>
      </p:grpSp>
      <p:sp>
        <p:nvSpPr>
          <p:cNvPr id="5" name="object 5"/>
          <p:cNvSpPr txBox="1">
            <a:spLocks noGrp="1"/>
          </p:cNvSpPr>
          <p:nvPr>
            <p:ph type="title"/>
          </p:nvPr>
        </p:nvSpPr>
        <p:spPr>
          <a:xfrm>
            <a:off x="165101" y="257761"/>
            <a:ext cx="10230724" cy="2598147"/>
          </a:xfrm>
          <a:prstGeom prst="rect">
            <a:avLst/>
          </a:prstGeom>
        </p:spPr>
        <p:txBody>
          <a:bodyPr vert="horz" wrap="square" lIns="0" tIns="12700" rIns="0" bIns="0" rtlCol="0" anchor="t">
            <a:spAutoFit/>
          </a:bodyPr>
          <a:lstStyle/>
          <a:p>
            <a:pPr marL="27940" algn="ctr">
              <a:spcBef>
                <a:spcPts val="100"/>
              </a:spcBef>
            </a:pPr>
            <a:r>
              <a:rPr lang="en-US" sz="4200" dirty="0">
                <a:solidFill>
                  <a:srgbClr val="FFFFFF"/>
                </a:solidFill>
                <a:latin typeface="Times New Roman" panose="02020603050405020304"/>
                <a:cs typeface="Times New Roman" panose="02020603050405020304"/>
                <a:sym typeface="Lora"/>
              </a:rPr>
              <a:t>DEVELOPMENT OF INTEGRATED WEARABLE DEVICE FOR REMOTE MONITORING OF PREGNANT WOMEN IN GHANA</a:t>
            </a:r>
            <a:endParaRPr lang="en-US" sz="4200" spc="-5" dirty="0">
              <a:latin typeface="Times New Roman" panose="02020603050405020304"/>
              <a:cs typeface="Times New Roman" panose="02020603050405020304"/>
            </a:endParaRPr>
          </a:p>
        </p:txBody>
      </p:sp>
      <p:sp>
        <p:nvSpPr>
          <p:cNvPr id="7" name="object 7"/>
          <p:cNvSpPr/>
          <p:nvPr/>
        </p:nvSpPr>
        <p:spPr>
          <a:xfrm>
            <a:off x="722036" y="5645484"/>
            <a:ext cx="1097474" cy="1316949"/>
          </a:xfrm>
          <a:prstGeom prst="rect">
            <a:avLst/>
          </a:prstGeom>
          <a:blipFill>
            <a:blip r:embed="rId1" cstate="print"/>
            <a:stretch>
              <a:fillRect/>
            </a:stretch>
          </a:blipFill>
        </p:spPr>
        <p:txBody>
          <a:bodyPr wrap="square" lIns="0" tIns="0" rIns="0" bIns="0" rtlCol="0"/>
          <a:lstStyle/>
          <a:p/>
        </p:txBody>
      </p:sp>
      <p:sp>
        <p:nvSpPr>
          <p:cNvPr id="8" name="object 8"/>
          <p:cNvSpPr txBox="1"/>
          <p:nvPr/>
        </p:nvSpPr>
        <p:spPr>
          <a:xfrm>
            <a:off x="2146300" y="5915025"/>
            <a:ext cx="6562725" cy="676466"/>
          </a:xfrm>
          <a:prstGeom prst="rect">
            <a:avLst/>
          </a:prstGeom>
        </p:spPr>
        <p:txBody>
          <a:bodyPr vert="horz" wrap="square" lIns="0" tIns="14604" rIns="0" bIns="0" rtlCol="0">
            <a:spAutoFit/>
          </a:bodyPr>
          <a:lstStyle/>
          <a:p>
            <a:pPr marL="12700">
              <a:lnSpc>
                <a:spcPct val="100000"/>
              </a:lnSpc>
              <a:spcBef>
                <a:spcPts val="115"/>
              </a:spcBef>
            </a:pPr>
            <a:r>
              <a:rPr sz="4300" b="1" spc="-80" dirty="0">
                <a:solidFill>
                  <a:srgbClr val="282781"/>
                </a:solidFill>
                <a:latin typeface="Times New Roman" panose="02020603050405020304" pitchFamily="18" charset="0"/>
                <a:cs typeface="Times New Roman" panose="02020603050405020304" pitchFamily="18" charset="0"/>
              </a:rPr>
              <a:t>UNIVERSITY </a:t>
            </a:r>
            <a:r>
              <a:rPr sz="4300" b="1" spc="35" dirty="0">
                <a:solidFill>
                  <a:srgbClr val="282781"/>
                </a:solidFill>
                <a:latin typeface="Times New Roman" panose="02020603050405020304" pitchFamily="18" charset="0"/>
                <a:cs typeface="Times New Roman" panose="02020603050405020304" pitchFamily="18" charset="0"/>
              </a:rPr>
              <a:t>OF</a:t>
            </a:r>
            <a:r>
              <a:rPr sz="4300" b="1" spc="285" dirty="0">
                <a:solidFill>
                  <a:srgbClr val="282781"/>
                </a:solidFill>
                <a:latin typeface="Times New Roman" panose="02020603050405020304" pitchFamily="18" charset="0"/>
                <a:cs typeface="Times New Roman" panose="02020603050405020304" pitchFamily="18" charset="0"/>
              </a:rPr>
              <a:t> </a:t>
            </a:r>
            <a:r>
              <a:rPr sz="4300" b="1" spc="160" dirty="0">
                <a:solidFill>
                  <a:srgbClr val="282781"/>
                </a:solidFill>
                <a:latin typeface="Times New Roman" panose="02020603050405020304" pitchFamily="18" charset="0"/>
                <a:cs typeface="Times New Roman" panose="02020603050405020304" pitchFamily="18" charset="0"/>
              </a:rPr>
              <a:t>GHANA</a:t>
            </a:r>
            <a:endParaRPr sz="43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165101" y="2709567"/>
            <a:ext cx="10363198" cy="1938020"/>
          </a:xfrm>
          <a:prstGeom prst="rect">
            <a:avLst/>
          </a:prstGeom>
          <a:noFill/>
        </p:spPr>
        <p:txBody>
          <a:bodyPr wrap="square" lIns="91440" tIns="45720" rIns="91440" bIns="45720" rtlCol="0" anchor="t">
            <a:spAutoFit/>
          </a:bodyPr>
          <a:lstStyle/>
          <a:p>
            <a:r>
              <a:rPr lang="en-US" sz="2400" b="1" u="sng" dirty="0">
                <a:solidFill>
                  <a:schemeClr val="bg1"/>
                </a:solidFill>
                <a:latin typeface="Times New Roman" panose="02020603050405020304"/>
                <a:ea typeface="Inter" panose="020B0604020202020204" charset="0"/>
                <a:cs typeface="Times New Roman" panose="02020603050405020304"/>
              </a:rPr>
              <a:t>Group Members</a:t>
            </a:r>
            <a:endParaRPr lang="en-US" sz="2400" b="1" u="sng" dirty="0">
              <a:solidFill>
                <a:schemeClr val="bg1"/>
              </a:solidFill>
              <a:latin typeface="Times New Roman" panose="02020603050405020304"/>
              <a:ea typeface="Inter" panose="020B0604020202020204" charset="0"/>
              <a:cs typeface="Times New Roman" panose="02020603050405020304"/>
            </a:endParaRPr>
          </a:p>
          <a:p>
            <a:r>
              <a:rPr lang="en-US" sz="2400" dirty="0">
                <a:solidFill>
                  <a:schemeClr val="bg1"/>
                </a:solidFill>
                <a:latin typeface="Times New Roman" panose="02020603050405020304"/>
                <a:ea typeface="Inter" panose="020B0604020202020204" charset="0"/>
                <a:cs typeface="Times New Roman" panose="02020603050405020304"/>
              </a:rPr>
              <a:t>Owoh </a:t>
            </a:r>
            <a:r>
              <a:rPr lang="en-US" sz="2400" dirty="0" err="1">
                <a:solidFill>
                  <a:schemeClr val="bg1"/>
                </a:solidFill>
                <a:latin typeface="Times New Roman" panose="02020603050405020304"/>
                <a:ea typeface="Inter" panose="020B0604020202020204" charset="0"/>
                <a:cs typeface="Times New Roman" panose="02020603050405020304"/>
              </a:rPr>
              <a:t>Einsteina</a:t>
            </a:r>
            <a:r>
              <a:rPr lang="en-US" sz="2400" dirty="0">
                <a:solidFill>
                  <a:schemeClr val="bg1"/>
                </a:solidFill>
                <a:latin typeface="Times New Roman" panose="02020603050405020304"/>
                <a:ea typeface="Inter" panose="020B0604020202020204" charset="0"/>
                <a:cs typeface="Times New Roman" panose="02020603050405020304"/>
              </a:rPr>
              <a:t> Ofunne - 10943874</a:t>
            </a:r>
            <a:endParaRPr lang="en-US" sz="2400" dirty="0">
              <a:solidFill>
                <a:schemeClr val="bg1"/>
              </a:solidFill>
              <a:latin typeface="Times New Roman" panose="02020603050405020304"/>
              <a:ea typeface="Inter" panose="020B0604020202020204" charset="0"/>
              <a:cs typeface="Times New Roman" panose="02020603050405020304"/>
            </a:endParaRPr>
          </a:p>
          <a:p>
            <a:r>
              <a:rPr lang="en-US" sz="2400" dirty="0">
                <a:solidFill>
                  <a:schemeClr val="bg1"/>
                </a:solidFill>
                <a:latin typeface="Times New Roman" panose="02020603050405020304"/>
                <a:ea typeface="Inter" panose="020B0604020202020204" charset="0"/>
                <a:cs typeface="Times New Roman" panose="02020603050405020304"/>
              </a:rPr>
              <a:t>Anane George Nyarko – 10947340</a:t>
            </a:r>
            <a:endParaRPr lang="en-US" sz="2400" dirty="0">
              <a:solidFill>
                <a:schemeClr val="bg1"/>
              </a:solidFill>
              <a:latin typeface="Times New Roman" panose="02020603050405020304"/>
              <a:ea typeface="Inter" panose="020B0604020202020204" charset="0"/>
              <a:cs typeface="Times New Roman" panose="02020603050405020304"/>
            </a:endParaRPr>
          </a:p>
          <a:p>
            <a:r>
              <a:rPr lang="en-US" sz="2400" dirty="0">
                <a:solidFill>
                  <a:schemeClr val="bg1"/>
                </a:solidFill>
                <a:latin typeface="Times New Roman" panose="02020603050405020304"/>
                <a:ea typeface="Inter" panose="020B0604020202020204" charset="0"/>
                <a:cs typeface="Times New Roman" panose="02020603050405020304"/>
              </a:rPr>
              <a:t>Adika Nathaniel - 10957036</a:t>
            </a:r>
            <a:endParaRPr lang="en-US" sz="2400" dirty="0">
              <a:solidFill>
                <a:schemeClr val="bg1"/>
              </a:solidFill>
              <a:latin typeface="Times New Roman" panose="02020603050405020304"/>
              <a:ea typeface="Inter" panose="020B0604020202020204" charset="0"/>
              <a:cs typeface="Times New Roman" panose="02020603050405020304"/>
            </a:endParaRPr>
          </a:p>
          <a:p>
            <a:r>
              <a:rPr lang="en-US" sz="2400" dirty="0">
                <a:solidFill>
                  <a:schemeClr val="bg1"/>
                </a:solidFill>
                <a:latin typeface="Inter"/>
                <a:ea typeface="Inter" panose="020B0604020202020204" charset="0"/>
              </a:rPr>
              <a:t>                                            </a:t>
            </a:r>
            <a:r>
              <a:rPr lang="en-US" sz="2400" dirty="0">
                <a:solidFill>
                  <a:schemeClr val="bg1"/>
                </a:solidFill>
                <a:latin typeface="Times New Roman" panose="02020603050405020304"/>
                <a:ea typeface="Inter" panose="020B0604020202020204" charset="0"/>
                <a:cs typeface="Times New Roman" panose="02020603050405020304"/>
              </a:rPr>
              <a:t> DATE: 25</a:t>
            </a:r>
            <a:r>
              <a:rPr lang="en-US" sz="2400" baseline="30000" dirty="0">
                <a:solidFill>
                  <a:schemeClr val="bg1"/>
                </a:solidFill>
                <a:latin typeface="Times New Roman" panose="02020603050405020304"/>
                <a:ea typeface="Inter" panose="020B0604020202020204" charset="0"/>
                <a:cs typeface="Times New Roman" panose="02020603050405020304"/>
              </a:rPr>
              <a:t>th </a:t>
            </a:r>
            <a:r>
              <a:rPr lang="en-US" sz="2400" dirty="0">
                <a:solidFill>
                  <a:schemeClr val="bg1"/>
                </a:solidFill>
                <a:latin typeface="Times New Roman" panose="02020603050405020304"/>
                <a:ea typeface="Inter" panose="020B0604020202020204" charset="0"/>
                <a:cs typeface="Times New Roman" panose="02020603050405020304"/>
              </a:rPr>
              <a:t>  April,2025</a:t>
            </a:r>
            <a:endParaRPr lang="en-US" sz="2400" dirty="0">
              <a:solidFill>
                <a:schemeClr val="bg1"/>
              </a:solidFill>
              <a:latin typeface="Times New Roman" panose="02020603050405020304"/>
              <a:ea typeface="Inter" panose="020B0604020202020204" charset="0"/>
              <a:cs typeface="Times New Roman" panose="02020603050405020304"/>
            </a:endParaRPr>
          </a:p>
        </p:txBody>
      </p:sp>
      <p:sp>
        <p:nvSpPr>
          <p:cNvPr id="10" name="TextBox 9"/>
          <p:cNvSpPr txBox="1"/>
          <p:nvPr/>
        </p:nvSpPr>
        <p:spPr>
          <a:xfrm>
            <a:off x="7023100" y="2643850"/>
            <a:ext cx="5078896" cy="2677656"/>
          </a:xfrm>
          <a:prstGeom prst="rect">
            <a:avLst/>
          </a:prstGeom>
          <a:noFill/>
        </p:spPr>
        <p:txBody>
          <a:bodyPr wrap="square" rtlCol="0">
            <a:spAutoFit/>
          </a:bodyPr>
          <a:lstStyle/>
          <a:p>
            <a:r>
              <a:rPr lang="en-US" sz="2400" b="1" u="sng">
                <a:solidFill>
                  <a:schemeClr val="bg1"/>
                </a:solidFill>
                <a:latin typeface="Times New Roman" panose="02020603050405020304" pitchFamily="18" charset="0"/>
                <a:ea typeface="Inter" panose="020B0604020202020204" charset="0"/>
                <a:cs typeface="Times New Roman" panose="02020603050405020304" pitchFamily="18" charset="0"/>
              </a:rPr>
              <a:t>Project Supervisor</a:t>
            </a:r>
            <a:endParaRPr lang="en-US" sz="2400" b="1" u="sng">
              <a:solidFill>
                <a:schemeClr val="bg1"/>
              </a:solidFill>
              <a:latin typeface="Times New Roman" panose="02020603050405020304" pitchFamily="18" charset="0"/>
              <a:ea typeface="Inter" panose="020B0604020202020204" charset="0"/>
              <a:cs typeface="Times New Roman" panose="02020603050405020304" pitchFamily="18" charset="0"/>
            </a:endParaRPr>
          </a:p>
          <a:p>
            <a:r>
              <a:rPr lang="en-US" sz="2400">
                <a:solidFill>
                  <a:schemeClr val="bg1"/>
                </a:solidFill>
                <a:latin typeface="Times New Roman" panose="02020603050405020304" pitchFamily="18" charset="0"/>
                <a:ea typeface="Inter" panose="020B0604020202020204" charset="0"/>
                <a:cs typeface="Times New Roman" panose="02020603050405020304" pitchFamily="18" charset="0"/>
              </a:rPr>
              <a:t>Dr. Godfrey Mills</a:t>
            </a:r>
            <a:endParaRPr lang="en-US" sz="2400">
              <a:solidFill>
                <a:schemeClr val="bg1"/>
              </a:solidFill>
              <a:latin typeface="Times New Roman" panose="02020603050405020304" pitchFamily="18" charset="0"/>
              <a:ea typeface="Inter" panose="020B0604020202020204" charset="0"/>
              <a:cs typeface="Times New Roman" panose="02020603050405020304" pitchFamily="18" charset="0"/>
            </a:endParaRPr>
          </a:p>
          <a:p>
            <a:r>
              <a:rPr lang="en-US" sz="2400" b="1" u="sng">
                <a:solidFill>
                  <a:schemeClr val="bg1"/>
                </a:solidFill>
                <a:latin typeface="Times New Roman" panose="02020603050405020304" pitchFamily="18" charset="0"/>
                <a:ea typeface="Inter" panose="020B0604020202020204" charset="0"/>
                <a:cs typeface="Times New Roman" panose="02020603050405020304" pitchFamily="18" charset="0"/>
              </a:rPr>
              <a:t>Co-Supervisor</a:t>
            </a:r>
            <a:endParaRPr lang="en-US" sz="2400" b="1" u="sng">
              <a:solidFill>
                <a:schemeClr val="bg1"/>
              </a:solidFill>
              <a:latin typeface="Times New Roman" panose="02020603050405020304" pitchFamily="18" charset="0"/>
              <a:ea typeface="Inter" panose="020B0604020202020204" charset="0"/>
              <a:cs typeface="Times New Roman" panose="02020603050405020304" pitchFamily="18" charset="0"/>
            </a:endParaRPr>
          </a:p>
          <a:p>
            <a:r>
              <a:rPr lang="en-US" sz="2400">
                <a:solidFill>
                  <a:schemeClr val="bg1"/>
                </a:solidFill>
                <a:latin typeface="Times New Roman" panose="02020603050405020304" pitchFamily="18" charset="0"/>
                <a:ea typeface="Inter" panose="020B0604020202020204" charset="0"/>
                <a:cs typeface="Times New Roman" panose="02020603050405020304" pitchFamily="18" charset="0"/>
              </a:rPr>
              <a:t>Prof.</a:t>
            </a:r>
            <a:r>
              <a:rPr lang="en-US" sz="2400">
                <a:latin typeface="Times New Roman" panose="02020603050405020304" pitchFamily="18" charset="0"/>
                <a:cs typeface="Times New Roman" panose="02020603050405020304" pitchFamily="18" charset="0"/>
              </a:rPr>
              <a:t> </a:t>
            </a:r>
            <a:r>
              <a:rPr lang="en-US" sz="2400">
                <a:solidFill>
                  <a:schemeClr val="bg1"/>
                </a:solidFill>
                <a:latin typeface="Times New Roman" panose="02020603050405020304" pitchFamily="18" charset="0"/>
                <a:cs typeface="Times New Roman" panose="02020603050405020304" pitchFamily="18" charset="0"/>
              </a:rPr>
              <a:t>Elsie Effah Kaufmann</a:t>
            </a:r>
            <a:endParaRPr lang="en-US" sz="2400">
              <a:solidFill>
                <a:schemeClr val="bg1"/>
              </a:solidFill>
              <a:latin typeface="Times New Roman" panose="02020603050405020304" pitchFamily="18" charset="0"/>
              <a:ea typeface="Inter" panose="020B0604020202020204" charset="0"/>
              <a:cs typeface="Times New Roman" panose="02020603050405020304" pitchFamily="18" charset="0"/>
            </a:endParaRPr>
          </a:p>
          <a:p>
            <a:endParaRPr lang="en-US" sz="2400">
              <a:solidFill>
                <a:schemeClr val="bg1"/>
              </a:solidFill>
              <a:latin typeface="Times New Roman" panose="02020603050405020304" pitchFamily="18" charset="0"/>
              <a:ea typeface="Inter" panose="020B0604020202020204" charset="0"/>
              <a:cs typeface="Times New Roman" panose="02020603050405020304" pitchFamily="18" charset="0"/>
            </a:endParaRPr>
          </a:p>
          <a:p>
            <a:endParaRPr lang="en-US" sz="2400">
              <a:solidFill>
                <a:schemeClr val="bg1"/>
              </a:solidFill>
              <a:latin typeface="Times New Roman" panose="02020603050405020304" pitchFamily="18" charset="0"/>
              <a:ea typeface="Inter" panose="020B0604020202020204" charset="0"/>
              <a:cs typeface="Times New Roman" panose="02020603050405020304" pitchFamily="18" charset="0"/>
            </a:endParaRPr>
          </a:p>
          <a:p>
            <a:endParaRPr lang="en-US" sz="2400">
              <a:solidFill>
                <a:schemeClr val="bg1"/>
              </a:solidFill>
              <a:latin typeface="Times New Roman" panose="02020603050405020304" pitchFamily="18" charset="0"/>
              <a:ea typeface="Inter" panose="020B0604020202020204" charset="0"/>
              <a:cs typeface="Times New Roman" panose="02020603050405020304" pitchFamily="18" charset="0"/>
            </a:endParaRP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27494" y="5558914"/>
            <a:ext cx="1303216" cy="130783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2128" y="747391"/>
            <a:ext cx="8524572" cy="936154"/>
          </a:xfrm>
          <a:prstGeom prst="rect">
            <a:avLst/>
          </a:prstGeom>
        </p:spPr>
        <p:txBody>
          <a:bodyPr vert="horz" wrap="square" lIns="0" tIns="12700" rIns="0" bIns="0" rtlCol="0" anchor="t">
            <a:spAutoFit/>
          </a:bodyPr>
          <a:lstStyle/>
          <a:p>
            <a:pPr marL="12700">
              <a:lnSpc>
                <a:spcPct val="100000"/>
              </a:lnSpc>
              <a:spcBef>
                <a:spcPts val="100"/>
              </a:spcBef>
            </a:pPr>
            <a:r>
              <a:rPr lang="en-GB" sz="6000" spc="-165" dirty="0">
                <a:latin typeface="Times New Roman" panose="02020603050405020304"/>
                <a:cs typeface="Times New Roman" panose="02020603050405020304"/>
              </a:rPr>
              <a:t>COLLABORATORS</a:t>
            </a:r>
            <a:endParaRPr lang="en-GB" sz="6000" spc="-16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2495" y="1895835"/>
            <a:ext cx="10701809" cy="2091726"/>
          </a:xfrm>
          <a:prstGeom prst="rect">
            <a:avLst/>
          </a:prstGeom>
        </p:spPr>
        <p:txBody>
          <a:bodyPr vert="horz" wrap="square" lIns="0" tIns="216535" rIns="0" bIns="0" rtlCol="0" anchor="t">
            <a:spAutoFit/>
          </a:bodyPr>
          <a:lstStyle/>
          <a:p>
            <a:pPr marL="469265" indent="-457200">
              <a:lnSpc>
                <a:spcPct val="150000"/>
              </a:lnSpc>
              <a:spcBef>
                <a:spcPts val="1605"/>
              </a:spcBef>
              <a:buFont typeface="Wingdings" panose="05000000000000000000" pitchFamily="2" charset="2"/>
              <a:buChar char="v"/>
              <a:tabLst>
                <a:tab pos="469265" algn="l"/>
                <a:tab pos="469900" algn="l"/>
              </a:tabLst>
            </a:pPr>
            <a:r>
              <a:rPr lang="en-US" sz="2200" b="1" spc="-5" dirty="0">
                <a:latin typeface="Times New Roman" panose="02020603050405020304"/>
                <a:cs typeface="Times New Roman" panose="02020603050405020304"/>
              </a:rPr>
              <a:t> </a:t>
            </a:r>
            <a:r>
              <a:rPr lang="en-US" sz="2200" spc="-5" dirty="0">
                <a:latin typeface="Times New Roman" panose="02020603050405020304"/>
                <a:cs typeface="Times New Roman" panose="02020603050405020304"/>
              </a:rPr>
              <a:t>Nathaniel   Sakyi Adibuer, IT Consortium</a:t>
            </a:r>
            <a:endParaRPr lang="en-US" sz="2200" spc="-5" baseline="30000" dirty="0">
              <a:latin typeface="Times New Roman" panose="02020603050405020304"/>
              <a:cs typeface="Times New Roman" panose="02020603050405020304"/>
            </a:endParaRPr>
          </a:p>
          <a:p>
            <a:pPr marL="469265" indent="-457200">
              <a:lnSpc>
                <a:spcPct val="150000"/>
              </a:lnSpc>
              <a:spcBef>
                <a:spcPts val="1605"/>
              </a:spcBef>
              <a:buFont typeface="Wingdings" panose="05000000000000000000" pitchFamily="2" charset="2"/>
              <a:buChar char="v"/>
              <a:tabLst>
                <a:tab pos="469265" algn="l"/>
                <a:tab pos="469900" algn="l"/>
              </a:tabLst>
            </a:pPr>
            <a:r>
              <a:rPr lang="en-US" sz="2200" spc="-5" dirty="0">
                <a:latin typeface="Times New Roman" panose="02020603050405020304"/>
                <a:cs typeface="Times New Roman" panose="02020603050405020304"/>
              </a:rPr>
              <a:t>Dr. Frank Amegah, Korle-Bu Teaching Hospital</a:t>
            </a:r>
            <a:endParaRPr lang="en-US" sz="2200" spc="-5" dirty="0">
              <a:latin typeface="Times New Roman" panose="02020603050405020304"/>
              <a:cs typeface="Times New Roman" panose="02020603050405020304"/>
            </a:endParaRPr>
          </a:p>
          <a:p>
            <a:pPr marL="12065">
              <a:lnSpc>
                <a:spcPct val="150000"/>
              </a:lnSpc>
              <a:spcBef>
                <a:spcPts val="1605"/>
              </a:spcBef>
              <a:tabLst>
                <a:tab pos="469265" algn="l"/>
                <a:tab pos="469900" algn="l"/>
              </a:tabLst>
            </a:pPr>
            <a:endParaRPr lang="en-US" sz="2200" b="1" spc="-5" dirty="0">
              <a:latin typeface="Times New Roman" panose="02020603050405020304"/>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6884" y="939896"/>
            <a:ext cx="10693400"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TASK DELEGATION</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7430770"/>
          </a:xfrm>
          <a:prstGeom prst="rect">
            <a:avLst/>
          </a:prstGeom>
        </p:spPr>
        <p:txBody>
          <a:bodyPr vert="horz" wrap="square" lIns="0" tIns="216535" rIns="0" bIns="0" rtlCol="0" anchor="t">
            <a:spAutoFit/>
          </a:bodyPr>
          <a:lstStyle/>
          <a:p>
            <a:pPr marL="457200" indent="-457200">
              <a:buFont typeface="Wingdings" panose="05000000000000000000" charset="0"/>
              <a:buChar char="v"/>
              <a:tabLst>
                <a:tab pos="469265" algn="l"/>
                <a:tab pos="469900" algn="l"/>
              </a:tabLst>
            </a:pPr>
            <a:r>
              <a:rPr lang="en-US" sz="2200" dirty="0">
                <a:latin typeface="Times New Roman" panose="02020603050405020304" pitchFamily="18" charset="0"/>
                <a:cs typeface="Times New Roman" panose="02020603050405020304" pitchFamily="18" charset="0"/>
              </a:rPr>
              <a:t>Owoh Einsteina Ofunne           -        AI Model Development</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v"/>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v"/>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v"/>
              <a:tabLst>
                <a:tab pos="469265" algn="l"/>
                <a:tab pos="469900" algn="l"/>
              </a:tabLst>
            </a:pPr>
            <a:r>
              <a:rPr lang="en-US" sz="2200" dirty="0">
                <a:latin typeface="Times New Roman" panose="02020603050405020304" pitchFamily="18" charset="0"/>
                <a:cs typeface="Times New Roman" panose="02020603050405020304" pitchFamily="18" charset="0"/>
              </a:rPr>
              <a:t>George Anane  Nyarko             -         Mobile App Development</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v"/>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v"/>
              <a:tabLst>
                <a:tab pos="469265" algn="l"/>
                <a:tab pos="469900" algn="l"/>
              </a:tabLst>
            </a:pPr>
            <a:endParaRPr lang="en-US" sz="2200" baseline="30000" dirty="0">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v"/>
              <a:tabLst>
                <a:tab pos="469265" algn="l"/>
                <a:tab pos="469900" algn="l"/>
              </a:tabLst>
            </a:pPr>
            <a:r>
              <a:rPr lang="en-US" sz="2200" dirty="0">
                <a:latin typeface="Times New Roman" panose="02020603050405020304" pitchFamily="18" charset="0"/>
                <a:cs typeface="Times New Roman" panose="02020603050405020304" pitchFamily="18" charset="0"/>
              </a:rPr>
              <a:t>Adika Nathaniel                          -      Wearable Device Development</a:t>
            </a:r>
            <a:endParaRPr lang="en-US" sz="22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AI MODEL PROGRESS </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9" name="TextBox 8"/>
          <p:cNvSpPr txBox="1"/>
          <p:nvPr/>
        </p:nvSpPr>
        <p:spPr>
          <a:xfrm>
            <a:off x="0" y="1956096"/>
            <a:ext cx="8715147" cy="4154984"/>
          </a:xfrm>
          <a:prstGeom prst="rect">
            <a:avLst/>
          </a:prstGeom>
          <a:noFill/>
        </p:spPr>
        <p:txBody>
          <a:bodyPr wrap="square" rtlCol="0">
            <a:spAutoFit/>
          </a:bodyPr>
          <a:lstStyle/>
          <a:p>
            <a:pPr algn="ctr">
              <a:buNone/>
            </a:pPr>
            <a:r>
              <a:rPr lang="en-US" sz="2200" b="1" dirty="0">
                <a:latin typeface="Times New Roman" panose="02020603050405020304" pitchFamily="18" charset="0"/>
                <a:cs typeface="Times New Roman" panose="02020603050405020304" pitchFamily="18" charset="0"/>
              </a:rPr>
              <a:t>KEY  OBJECTIVES</a:t>
            </a:r>
            <a:endParaRPr lang="en-US" sz="2200" b="1" dirty="0">
              <a:latin typeface="Times New Roman" panose="02020603050405020304" pitchFamily="18" charset="0"/>
              <a:cs typeface="Times New Roman" panose="02020603050405020304" pitchFamily="18" charset="0"/>
            </a:endParaRPr>
          </a:p>
          <a:p>
            <a:pPr>
              <a:buNone/>
            </a:pPr>
            <a:endParaRPr lang="en-US" sz="22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 Train separate models for detecting preeclampsia, anemia, and gestational diabetes.</a:t>
            </a:r>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Use real-world medical datasets to analyze health indicators.</a:t>
            </a:r>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Implement a structured machine learning pipeline from preprocessing to evaluation.</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 Compare different models to find the best-performing approach for each condition.</a:t>
            </a:r>
            <a:endParaRPr 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DATASET OVERVIEW</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4" name="TextBox 3"/>
          <p:cNvSpPr txBox="1"/>
          <p:nvPr/>
        </p:nvSpPr>
        <p:spPr>
          <a:xfrm>
            <a:off x="0" y="2613746"/>
            <a:ext cx="10861842" cy="4985980"/>
          </a:xfrm>
          <a:prstGeom prst="rect">
            <a:avLst/>
          </a:prstGeom>
          <a:noFill/>
        </p:spPr>
        <p:txBody>
          <a:bodyPr wrap="square" rtlCol="0">
            <a:spAutoFit/>
          </a:bodyPr>
          <a:lstStyle/>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Dataset Name: train_dataset.xlsx</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Source: Preeclampsia in Pregnant Women Dataset by Muhammad Asif</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Number of Samples: 163</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Number of Input Features: 14</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Output States: Low, mid or High</a:t>
            </a:r>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Description: No description of dataset provided</a:t>
            </a:r>
            <a:endParaRPr lang="en-US" sz="2200" dirty="0">
              <a:latin typeface="Times New Roman" panose="02020603050405020304" pitchFamily="18" charset="0"/>
              <a:cs typeface="Times New Roman" panose="02020603050405020304" pitchFamily="18" charset="0"/>
            </a:endParaRPr>
          </a:p>
          <a:p>
            <a:endParaRPr lang="en-US" b="1" dirty="0"/>
          </a:p>
          <a:p>
            <a:endParaRPr lang="en-US" b="1" dirty="0"/>
          </a:p>
          <a:p>
            <a:endParaRPr lang="en-US" dirty="0"/>
          </a:p>
        </p:txBody>
      </p:sp>
      <p:sp>
        <p:nvSpPr>
          <p:cNvPr id="3" name="TextBox 2"/>
          <p:cNvSpPr txBox="1"/>
          <p:nvPr/>
        </p:nvSpPr>
        <p:spPr>
          <a:xfrm>
            <a:off x="980902" y="2038567"/>
            <a:ext cx="6993467" cy="461665"/>
          </a:xfrm>
          <a:prstGeom prst="rect">
            <a:avLst/>
          </a:prstGeom>
          <a:noFill/>
        </p:spPr>
        <p:txBody>
          <a:bodyPr wrap="square" rtlCol="0">
            <a:spAutoFit/>
          </a:bodyPr>
          <a:lstStyle/>
          <a:p>
            <a:pPr algn="ctr"/>
            <a:r>
              <a:rPr lang="en-US" sz="2400" b="1" dirty="0"/>
              <a:t>PREECLAMPSIA</a:t>
            </a:r>
            <a:endParaRPr lang="en-US" sz="24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FEATURES</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4" name="TextBox 3"/>
          <p:cNvSpPr txBox="1"/>
          <p:nvPr/>
        </p:nvSpPr>
        <p:spPr>
          <a:xfrm>
            <a:off x="0" y="2613746"/>
            <a:ext cx="10861842" cy="4832092"/>
          </a:xfrm>
          <a:prstGeom prst="rect">
            <a:avLst/>
          </a:prstGeom>
          <a:noFill/>
        </p:spPr>
        <p:txBody>
          <a:bodyPr wrap="square" rtlCol="0">
            <a:spAutoFit/>
          </a:bodyPr>
          <a:lstStyle/>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Gravida</a:t>
            </a:r>
            <a:endParaRPr lang="en-US"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Parity</a:t>
            </a:r>
            <a:endParaRPr lang="en-US"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Gestational Age</a:t>
            </a:r>
            <a:endParaRPr lang="en-US"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Age</a:t>
            </a:r>
            <a:endParaRPr lang="en-US"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BMI</a:t>
            </a:r>
            <a:endParaRPr lang="en-US"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Diabetes</a:t>
            </a:r>
            <a:endParaRPr lang="en-US"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History of Hypertension</a:t>
            </a:r>
            <a:endParaRPr lang="en-US"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Systolic Bp</a:t>
            </a:r>
            <a:endParaRPr lang="en-US"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Diastolic Bp</a:t>
            </a:r>
            <a:endParaRPr lang="en-US"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HB</a:t>
            </a:r>
            <a:endParaRPr lang="en-US"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Fetal weight</a:t>
            </a:r>
            <a:endParaRPr lang="en-US"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Protein in urine</a:t>
            </a:r>
            <a:endParaRPr lang="en-US"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Amniotic fluid level</a:t>
            </a:r>
            <a:endParaRPr lang="en-US"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Risk Level</a:t>
            </a:r>
            <a:endParaRPr lang="en-US" dirty="0"/>
          </a:p>
        </p:txBody>
      </p:sp>
      <p:sp>
        <p:nvSpPr>
          <p:cNvPr id="3" name="TextBox 2"/>
          <p:cNvSpPr txBox="1"/>
          <p:nvPr/>
        </p:nvSpPr>
        <p:spPr>
          <a:xfrm>
            <a:off x="980902" y="2038567"/>
            <a:ext cx="6993467" cy="461665"/>
          </a:xfrm>
          <a:prstGeom prst="rect">
            <a:avLst/>
          </a:prstGeom>
          <a:noFill/>
        </p:spPr>
        <p:txBody>
          <a:bodyPr wrap="square" rtlCol="0">
            <a:spAutoFit/>
          </a:bodyPr>
          <a:lstStyle/>
          <a:p>
            <a:pPr algn="ctr"/>
            <a:r>
              <a:rPr lang="en-US" sz="2400" b="1" dirty="0"/>
              <a:t>PREECLAMPSIA</a:t>
            </a:r>
            <a:endParaRPr lang="en-US" sz="24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DATASET OVERVIEW</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4" name="TextBox 3"/>
          <p:cNvSpPr txBox="1"/>
          <p:nvPr/>
        </p:nvSpPr>
        <p:spPr>
          <a:xfrm>
            <a:off x="-25966" y="2640603"/>
            <a:ext cx="10693400" cy="4493538"/>
          </a:xfrm>
          <a:prstGeom prst="rect">
            <a:avLst/>
          </a:prstGeom>
          <a:noFill/>
        </p:spPr>
        <p:txBody>
          <a:bodyPr wrap="square" rtlCol="0">
            <a:spAutoFit/>
          </a:bodyPr>
          <a:lstStyle/>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Dataset Name: Gestational Diabetes 2.csv &amp; Gestational Diabetes 3.csv</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Source: Gestational diabetes by Rasool Jader  </a:t>
            </a:r>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Number of Samples: 2026</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Number of Input Features: 6</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Output States: 0 or 1</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Description: The dataset was obtained from the Kurdistan region laboratories, which collected information from pregnant women with and without diabetes.</a:t>
            </a:r>
            <a:endParaRPr lang="en-US" sz="22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980902" y="2038567"/>
            <a:ext cx="6993467" cy="461665"/>
          </a:xfrm>
          <a:prstGeom prst="rect">
            <a:avLst/>
          </a:prstGeom>
          <a:noFill/>
        </p:spPr>
        <p:txBody>
          <a:bodyPr wrap="square" rtlCol="0">
            <a:spAutoFit/>
          </a:bodyPr>
          <a:lstStyle/>
          <a:p>
            <a:pPr algn="ctr"/>
            <a:r>
              <a:rPr lang="en-US" sz="2400" b="1" dirty="0"/>
              <a:t>GESTATIONAL DIABETES</a:t>
            </a:r>
            <a:endParaRPr lang="en-US" sz="24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FEATURES</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4" name="TextBox 3"/>
          <p:cNvSpPr txBox="1"/>
          <p:nvPr/>
        </p:nvSpPr>
        <p:spPr>
          <a:xfrm>
            <a:off x="-25966" y="2640603"/>
            <a:ext cx="10693400" cy="2462213"/>
          </a:xfrm>
          <a:prstGeom prst="rect">
            <a:avLst/>
          </a:prstGeom>
          <a:noFill/>
        </p:spPr>
        <p:txBody>
          <a:bodyPr wrap="square" rtlCol="0">
            <a:spAutoFit/>
          </a:bodyPr>
          <a:lstStyle/>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Age</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Pregnancy</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Weight </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Height</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BMI</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Heredity</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Prediction</a:t>
            </a:r>
            <a:endParaRPr lang="en-US" sz="22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980902" y="2038567"/>
            <a:ext cx="6993467" cy="461665"/>
          </a:xfrm>
          <a:prstGeom prst="rect">
            <a:avLst/>
          </a:prstGeom>
          <a:noFill/>
        </p:spPr>
        <p:txBody>
          <a:bodyPr wrap="square" rtlCol="0">
            <a:spAutoFit/>
          </a:bodyPr>
          <a:lstStyle/>
          <a:p>
            <a:pPr algn="ctr"/>
            <a:r>
              <a:rPr lang="en-US" sz="2400" b="1" dirty="0"/>
              <a:t>GESTATIONAL DIABETES</a:t>
            </a:r>
            <a:endParaRPr lang="en-US" sz="24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DATASET OVERVIEW</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4" name="TextBox 3"/>
          <p:cNvSpPr txBox="1"/>
          <p:nvPr/>
        </p:nvSpPr>
        <p:spPr>
          <a:xfrm>
            <a:off x="0" y="2613746"/>
            <a:ext cx="10693400" cy="4770537"/>
          </a:xfrm>
          <a:prstGeom prst="rect">
            <a:avLst/>
          </a:prstGeom>
          <a:noFill/>
        </p:spPr>
        <p:txBody>
          <a:bodyPr wrap="square" rtlCol="0">
            <a:spAutoFit/>
          </a:bodyPr>
          <a:lstStyle/>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Dataset Name: Book2.xlsx</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Source: Maternal Health and High-Risk Pregnancy Dataset by Ankur Ray Chayan </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Number of Samples: 999</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Number of Input Features: 17</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Output States: yes or no</a:t>
            </a:r>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Description: This dataset includes maternal health indicators. It classifies pregnancies as high-risk or non-high-risk.</a:t>
            </a:r>
            <a:endParaRPr lang="en-US" sz="2200" dirty="0">
              <a:latin typeface="Times New Roman" panose="02020603050405020304" pitchFamily="18" charset="0"/>
              <a:cs typeface="Times New Roman" panose="02020603050405020304" pitchFamily="18" charset="0"/>
            </a:endParaRPr>
          </a:p>
          <a:p>
            <a:endParaRPr lang="en-US" dirty="0"/>
          </a:p>
        </p:txBody>
      </p:sp>
      <p:sp>
        <p:nvSpPr>
          <p:cNvPr id="3" name="TextBox 2"/>
          <p:cNvSpPr txBox="1"/>
          <p:nvPr/>
        </p:nvSpPr>
        <p:spPr>
          <a:xfrm>
            <a:off x="980902" y="2038567"/>
            <a:ext cx="6993467" cy="461665"/>
          </a:xfrm>
          <a:prstGeom prst="rect">
            <a:avLst/>
          </a:prstGeom>
          <a:noFill/>
        </p:spPr>
        <p:txBody>
          <a:bodyPr wrap="square" rtlCol="0">
            <a:spAutoFit/>
          </a:bodyPr>
          <a:lstStyle/>
          <a:p>
            <a:pPr algn="ctr"/>
            <a:r>
              <a:rPr lang="en-US" sz="2400" b="1" dirty="0"/>
              <a:t>ANEMIA</a:t>
            </a:r>
            <a:endParaRPr lang="en-US" sz="24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FEATURES</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4" name="TextBox 3"/>
          <p:cNvSpPr txBox="1"/>
          <p:nvPr/>
        </p:nvSpPr>
        <p:spPr>
          <a:xfrm>
            <a:off x="0" y="2613746"/>
            <a:ext cx="4455622" cy="5109091"/>
          </a:xfrm>
          <a:prstGeom prst="rect">
            <a:avLst/>
          </a:prstGeom>
          <a:noFill/>
        </p:spPr>
        <p:txBody>
          <a:bodyPr wrap="square" rtlCol="0">
            <a:spAutoFit/>
          </a:bodyPr>
          <a:lstStyle/>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Name</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Age</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Gravida</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Pregnancy</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Gestational age</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Weight</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Height</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Blood Pressure</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Anemia</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Jaundice</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Fetal Position</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Fetal movements</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Fetal heartbeats</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Urine test- Sugar</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dirty="0"/>
          </a:p>
        </p:txBody>
      </p:sp>
      <p:sp>
        <p:nvSpPr>
          <p:cNvPr id="3" name="TextBox 2"/>
          <p:cNvSpPr txBox="1"/>
          <p:nvPr/>
        </p:nvSpPr>
        <p:spPr>
          <a:xfrm>
            <a:off x="980902" y="2038567"/>
            <a:ext cx="6993467" cy="461665"/>
          </a:xfrm>
          <a:prstGeom prst="rect">
            <a:avLst/>
          </a:prstGeom>
          <a:noFill/>
        </p:spPr>
        <p:txBody>
          <a:bodyPr wrap="square" rtlCol="0">
            <a:spAutoFit/>
          </a:bodyPr>
          <a:lstStyle/>
          <a:p>
            <a:pPr algn="ctr"/>
            <a:r>
              <a:rPr lang="en-US" sz="2400" b="1" dirty="0"/>
              <a:t>ANEMIA</a:t>
            </a:r>
            <a:endParaRPr lang="en-US" sz="2400" b="1" dirty="0"/>
          </a:p>
        </p:txBody>
      </p:sp>
      <p:sp>
        <p:nvSpPr>
          <p:cNvPr id="8" name="TextBox 7"/>
          <p:cNvSpPr txBox="1"/>
          <p:nvPr/>
        </p:nvSpPr>
        <p:spPr>
          <a:xfrm>
            <a:off x="5346700" y="2636081"/>
            <a:ext cx="4455622" cy="1107996"/>
          </a:xfrm>
          <a:prstGeom prst="rect">
            <a:avLst/>
          </a:prstGeom>
          <a:noFill/>
        </p:spPr>
        <p:txBody>
          <a:bodyPr wrap="square" rtlCol="0">
            <a:spAutoFit/>
          </a:bodyPr>
          <a:lstStyle/>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VDRL</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err="1">
                <a:latin typeface="Times New Roman" panose="02020603050405020304" pitchFamily="18" charset="0"/>
                <a:cs typeface="Times New Roman" panose="02020603050405020304" pitchFamily="18" charset="0"/>
              </a:rPr>
              <a:t>HRsAg</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High Risk Pregnancy </a:t>
            </a:r>
            <a:endParaRPr 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DATA PREPROCESSING</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25053"/>
            <a:ext cx="10693399" cy="563779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MODEL SELECTION</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980902" y="2038567"/>
            <a:ext cx="6993467"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PREECLAMPSIA</a:t>
            </a:r>
            <a:endParaRPr lang="en-US" sz="24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45104" y="2500232"/>
            <a:ext cx="10648296" cy="120032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We chose the best performing model which was Logistic Regression. Although Decision Tree and Random Forest performed slightly better overall, they tend to overfit, whereas Logistic Regression generalizes well to unseen data.</a:t>
            </a:r>
            <a:endParaRPr lang="en-US" dirty="0">
              <a:latin typeface="Times New Roman" panose="02020603050405020304" pitchFamily="18" charset="0"/>
              <a:cs typeface="Times New Roman" panose="02020603050405020304" pitchFamily="18" charset="0"/>
            </a:endParaRPr>
          </a:p>
          <a:p>
            <a:endParaRPr lang="en-US" dirty="0"/>
          </a:p>
        </p:txBody>
      </p:sp>
      <p:graphicFrame>
        <p:nvGraphicFramePr>
          <p:cNvPr id="9" name="Table 8"/>
          <p:cNvGraphicFramePr>
            <a:graphicFrameLocks noGrp="1"/>
          </p:cNvGraphicFramePr>
          <p:nvPr/>
        </p:nvGraphicFramePr>
        <p:xfrm>
          <a:off x="22552" y="3422156"/>
          <a:ext cx="10648296" cy="4140694"/>
        </p:xfrm>
        <a:graphic>
          <a:graphicData uri="http://schemas.openxmlformats.org/drawingml/2006/table">
            <a:tbl>
              <a:tblPr firstRow="1" bandRow="1">
                <a:tableStyleId>{5C22544A-7EE6-4342-B048-85BDC9FD1C3A}</a:tableStyleId>
              </a:tblPr>
              <a:tblGrid>
                <a:gridCol w="1331037"/>
                <a:gridCol w="1331037"/>
                <a:gridCol w="1331037"/>
                <a:gridCol w="1331037"/>
                <a:gridCol w="1331037"/>
                <a:gridCol w="1331037"/>
                <a:gridCol w="1331037"/>
                <a:gridCol w="1331037"/>
              </a:tblGrid>
              <a:tr h="1090882">
                <a:tc>
                  <a:txBody>
                    <a:bodyPr/>
                    <a:lstStyle/>
                    <a:p>
                      <a:r>
                        <a:rPr lang="en-US" dirty="0">
                          <a:latin typeface="Times New Roman" panose="02020603050405020304" pitchFamily="18" charset="0"/>
                          <a:cs typeface="Times New Roman" panose="02020603050405020304" pitchFamily="18" charset="0"/>
                        </a:rPr>
                        <a:t>Performance Metrics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Logistic Regression</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K-Nearest </a:t>
                      </a:r>
                      <a:r>
                        <a:rPr lang="en-US" dirty="0" err="1">
                          <a:latin typeface="Times New Roman" panose="02020603050405020304" pitchFamily="18" charset="0"/>
                          <a:cs typeface="Times New Roman" panose="02020603050405020304" pitchFamily="18" charset="0"/>
                        </a:rPr>
                        <a:t>Neighbour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Support Vector Machine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Decision Tree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Random Forest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Gradient Boosting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MLP Classifier</a:t>
                      </a:r>
                      <a:endParaRPr lang="en-US" dirty="0">
                        <a:latin typeface="Times New Roman" panose="02020603050405020304" pitchFamily="18" charset="0"/>
                        <a:cs typeface="Times New Roman" panose="02020603050405020304" pitchFamily="18" charset="0"/>
                      </a:endParaRPr>
                    </a:p>
                  </a:txBody>
                  <a:tcPr/>
                </a:tc>
              </a:tr>
              <a:tr h="442413">
                <a:tc>
                  <a:txBody>
                    <a:bodyPr/>
                    <a:lstStyle/>
                    <a:p>
                      <a:r>
                        <a:rPr lang="en-US" dirty="0">
                          <a:latin typeface="Times New Roman" panose="02020603050405020304" pitchFamily="18" charset="0"/>
                          <a:cs typeface="Times New Roman" panose="02020603050405020304" pitchFamily="18" charset="0"/>
                        </a:rPr>
                        <a:t>Accuracy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0.925926</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0.814815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0.907407</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0.981481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0.962963</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0.962963</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0.944444</a:t>
                      </a:r>
                      <a:endParaRPr lang="en-US" dirty="0">
                        <a:latin typeface="Times New Roman" panose="02020603050405020304" pitchFamily="18" charset="0"/>
                        <a:cs typeface="Times New Roman" panose="02020603050405020304" pitchFamily="18" charset="0"/>
                      </a:endParaRPr>
                    </a:p>
                  </a:txBody>
                  <a:tcPr/>
                </a:tc>
              </a:tr>
              <a:tr h="442413">
                <a:tc>
                  <a:txBody>
                    <a:bodyPr/>
                    <a:lstStyle/>
                    <a:p>
                      <a:r>
                        <a:rPr lang="en-US" dirty="0">
                          <a:latin typeface="Times New Roman" panose="02020603050405020304" pitchFamily="18" charset="0"/>
                          <a:cs typeface="Times New Roman" panose="02020603050405020304" pitchFamily="18" charset="0"/>
                        </a:rPr>
                        <a:t>Precision</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0.935494</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0.875281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0.910847</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0.982510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0.967593</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0.967901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0.950397</a:t>
                      </a:r>
                      <a:endParaRPr lang="en-US" dirty="0">
                        <a:latin typeface="Times New Roman" panose="02020603050405020304" pitchFamily="18" charset="0"/>
                        <a:cs typeface="Times New Roman" panose="02020603050405020304" pitchFamily="18" charset="0"/>
                      </a:endParaRPr>
                    </a:p>
                  </a:txBody>
                  <a:tcPr/>
                </a:tc>
              </a:tr>
              <a:tr h="442413">
                <a:tc>
                  <a:txBody>
                    <a:bodyPr/>
                    <a:lstStyle/>
                    <a:p>
                      <a:r>
                        <a:rPr lang="en-US" dirty="0">
                          <a:latin typeface="Times New Roman" panose="02020603050405020304" pitchFamily="18" charset="0"/>
                          <a:cs typeface="Times New Roman" panose="02020603050405020304" pitchFamily="18" charset="0"/>
                        </a:rPr>
                        <a:t>F1 Score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0.925308 </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0.818896 </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0.905208</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0.981259</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0.963430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0.963128</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0.944377</a:t>
                      </a:r>
                      <a:endParaRPr lang="en-US" dirty="0">
                        <a:latin typeface="Times New Roman" panose="02020603050405020304" pitchFamily="18" charset="0"/>
                        <a:cs typeface="Times New Roman" panose="02020603050405020304" pitchFamily="18" charset="0"/>
                      </a:endParaRPr>
                    </a:p>
                  </a:txBody>
                  <a:tcPr/>
                </a:tc>
              </a:tr>
              <a:tr h="442413">
                <a:tc>
                  <a:txBody>
                    <a:bodyPr/>
                    <a:lstStyle/>
                    <a:p>
                      <a:r>
                        <a:rPr lang="en-US" dirty="0">
                          <a:latin typeface="Times New Roman" panose="02020603050405020304" pitchFamily="18" charset="0"/>
                          <a:cs typeface="Times New Roman" panose="02020603050405020304" pitchFamily="18" charset="0"/>
                        </a:rPr>
                        <a:t>Recall</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0.925926</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0.814815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0.907407</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0.981481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0.962963</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0.962963</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0.944444</a:t>
                      </a:r>
                      <a:endParaRPr lang="en-US" dirty="0">
                        <a:latin typeface="Times New Roman" panose="02020603050405020304" pitchFamily="18" charset="0"/>
                        <a:cs typeface="Times New Roman" panose="02020603050405020304" pitchFamily="18" charset="0"/>
                      </a:endParaRPr>
                    </a:p>
                  </a:txBody>
                  <a:tcPr/>
                </a:tc>
              </a:tr>
              <a:tr h="569032">
                <a:tc>
                  <a:txBody>
                    <a:bodyPr/>
                    <a:lstStyle/>
                    <a:p>
                      <a:r>
                        <a:rPr lang="en-US" dirty="0">
                          <a:latin typeface="Times New Roman" panose="02020603050405020304" pitchFamily="18" charset="0"/>
                          <a:cs typeface="Times New Roman" panose="02020603050405020304" pitchFamily="18" charset="0"/>
                        </a:rPr>
                        <a:t>Training Accuracy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0.9225</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0.7984</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0.9302</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0.9922</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0.9922</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0.9922</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0.9922</a:t>
                      </a:r>
                      <a:endParaRPr lang="en-US" dirty="0">
                        <a:latin typeface="Times New Roman" panose="02020603050405020304" pitchFamily="18" charset="0"/>
                        <a:cs typeface="Times New Roman" panose="02020603050405020304" pitchFamily="18" charset="0"/>
                      </a:endParaRPr>
                    </a:p>
                  </a:txBody>
                  <a:tcPr/>
                </a:tc>
              </a:tr>
              <a:tr h="569032">
                <a:tc>
                  <a:txBody>
                    <a:bodyPr/>
                    <a:lstStyle/>
                    <a:p>
                      <a:r>
                        <a:rPr lang="en-US" dirty="0">
                          <a:latin typeface="Times New Roman" panose="02020603050405020304" pitchFamily="18" charset="0"/>
                          <a:cs typeface="Times New Roman" panose="02020603050405020304" pitchFamily="18" charset="0"/>
                        </a:rPr>
                        <a:t>Test Accuracy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0.9091</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0.5152</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0.8788</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0.8788</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0.8182</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0.7879</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0.8485</a:t>
                      </a:r>
                      <a:endParaRPr lang="en-US"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TIME TAKEN (S)</a:t>
            </a:r>
            <a:endParaRPr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980902" y="2038567"/>
            <a:ext cx="6993467" cy="430887"/>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PREECLAMPSIA</a:t>
            </a:r>
            <a:endParaRPr lang="en-US" sz="2200" b="1" dirty="0">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nvGraphicFramePr>
        <p:xfrm>
          <a:off x="141316" y="3097352"/>
          <a:ext cx="10410768" cy="2323210"/>
        </p:xfrm>
        <a:graphic>
          <a:graphicData uri="http://schemas.openxmlformats.org/drawingml/2006/table">
            <a:tbl>
              <a:tblPr firstRow="1" bandRow="1">
                <a:tableStyleId>{5C22544A-7EE6-4342-B048-85BDC9FD1C3A}</a:tableStyleId>
              </a:tblPr>
              <a:tblGrid>
                <a:gridCol w="1301346"/>
                <a:gridCol w="1301346"/>
                <a:gridCol w="1301346"/>
                <a:gridCol w="1301346"/>
                <a:gridCol w="1301346"/>
                <a:gridCol w="1301346"/>
                <a:gridCol w="1301346"/>
                <a:gridCol w="1301346"/>
              </a:tblGrid>
              <a:tr h="1043050">
                <a:tc>
                  <a:txBody>
                    <a:bodyPr/>
                    <a:lstStyle/>
                    <a:p>
                      <a:r>
                        <a:rPr lang="en-US" dirty="0">
                          <a:latin typeface="Times New Roman" panose="02020603050405020304" pitchFamily="18" charset="0"/>
                          <a:cs typeface="Times New Roman" panose="02020603050405020304" pitchFamily="18" charset="0"/>
                        </a:rPr>
                        <a:t>Performance Metrics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Logistic Regression</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K-Nearest </a:t>
                      </a:r>
                      <a:r>
                        <a:rPr lang="en-US" dirty="0" err="1">
                          <a:latin typeface="Times New Roman" panose="02020603050405020304" pitchFamily="18" charset="0"/>
                          <a:cs typeface="Times New Roman" panose="02020603050405020304" pitchFamily="18" charset="0"/>
                        </a:rPr>
                        <a:t>Neighbour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Support Vector Machine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Decision Tree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Random Forest Classifier</a:t>
                      </a:r>
                      <a:endParaRPr lang="en-US"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Gradient Boosting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MLP Classifier</a:t>
                      </a:r>
                      <a:endParaRPr lang="en-US" dirty="0">
                        <a:latin typeface="Times New Roman" panose="02020603050405020304" pitchFamily="18" charset="0"/>
                        <a:cs typeface="Times New Roman" panose="02020603050405020304" pitchFamily="18" charset="0"/>
                      </a:endParaRPr>
                    </a:p>
                  </a:txBody>
                  <a:tcPr/>
                </a:tc>
              </a:tr>
              <a:tr h="417220">
                <a:tc>
                  <a:txBody>
                    <a:bodyPr/>
                    <a:lstStyle/>
                    <a:p>
                      <a:r>
                        <a:rPr lang="en-US" dirty="0">
                          <a:latin typeface="Times New Roman" panose="02020603050405020304" pitchFamily="18" charset="0"/>
                          <a:cs typeface="Times New Roman" panose="02020603050405020304" pitchFamily="18" charset="0"/>
                        </a:rPr>
                        <a:t>Training Time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rPr>
                        <a:t>0.0120</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0.0005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0.0031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0.0010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chemeClr val="tx1"/>
                          </a:solidFill>
                        </a:rPr>
                        <a:t>0.2952</a:t>
                      </a:r>
                      <a:endParaRPr lang="en-US"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dirty="0"/>
                        <a:t>0.4847</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0.3411</a:t>
                      </a:r>
                      <a:endParaRPr lang="en-US" dirty="0">
                        <a:latin typeface="Times New Roman" panose="02020603050405020304" pitchFamily="18" charset="0"/>
                        <a:cs typeface="Times New Roman" panose="02020603050405020304" pitchFamily="18" charset="0"/>
                      </a:endParaRPr>
                    </a:p>
                  </a:txBody>
                  <a:tcPr/>
                </a:tc>
              </a:tr>
              <a:tr h="417220">
                <a:tc>
                  <a:txBody>
                    <a:bodyPr/>
                    <a:lstStyle/>
                    <a:p>
                      <a:r>
                        <a:rPr lang="en-US" dirty="0">
                          <a:latin typeface="Times New Roman" panose="02020603050405020304" pitchFamily="18" charset="0"/>
                          <a:cs typeface="Times New Roman" panose="02020603050405020304" pitchFamily="18" charset="0"/>
                        </a:rPr>
                        <a:t>Prediction Time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rPr>
                        <a:t>0.0010</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t>0.0039</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0.0000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0.0001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chemeClr val="tx1"/>
                          </a:solidFill>
                          <a:latin typeface="Times New Roman" panose="02020603050405020304" pitchFamily="18" charset="0"/>
                          <a:cs typeface="Times New Roman" panose="02020603050405020304" pitchFamily="18" charset="0"/>
                        </a:rPr>
                        <a:t>0.0050</a:t>
                      </a:r>
                      <a:endParaRPr lang="en-US"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dirty="0"/>
                        <a:t>0.0010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0.0010</a:t>
                      </a:r>
                      <a:endParaRPr lang="en-US"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MODEL SELECTION</a:t>
            </a:r>
            <a:endParaRPr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980902" y="2038567"/>
            <a:ext cx="6993467" cy="430887"/>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GESTATIONAL DIABETES</a:t>
            </a:r>
            <a:endParaRPr lang="en-US" sz="22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16176" y="2630611"/>
            <a:ext cx="10677224"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Although K-Nearest Algorithm performed slightly better overall, they tend to overfit. It is also known as “Lazy Algorithm” because it memorizes the training data. We chose Random Forest because it generalizes better to new data, and provides insights into feature importance.</a:t>
            </a:r>
            <a:endParaRPr lang="en-US" dirty="0">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nvGraphicFramePr>
        <p:xfrm>
          <a:off x="141316" y="3553941"/>
          <a:ext cx="10410768" cy="3992090"/>
        </p:xfrm>
        <a:graphic>
          <a:graphicData uri="http://schemas.openxmlformats.org/drawingml/2006/table">
            <a:tbl>
              <a:tblPr firstRow="1" bandRow="1">
                <a:tableStyleId>{5C22544A-7EE6-4342-B048-85BDC9FD1C3A}</a:tableStyleId>
              </a:tblPr>
              <a:tblGrid>
                <a:gridCol w="1301346"/>
                <a:gridCol w="1301346"/>
                <a:gridCol w="1301346"/>
                <a:gridCol w="1301346"/>
                <a:gridCol w="1301346"/>
                <a:gridCol w="1301346"/>
                <a:gridCol w="1301346"/>
                <a:gridCol w="1301346"/>
              </a:tblGrid>
              <a:tr h="1043050">
                <a:tc>
                  <a:txBody>
                    <a:bodyPr/>
                    <a:lstStyle/>
                    <a:p>
                      <a:r>
                        <a:rPr lang="en-US" dirty="0">
                          <a:latin typeface="Times New Roman" panose="02020603050405020304" pitchFamily="18" charset="0"/>
                          <a:cs typeface="Times New Roman" panose="02020603050405020304" pitchFamily="18" charset="0"/>
                        </a:rPr>
                        <a:t>Performance Metrics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Logistic Regression</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K-Nearest </a:t>
                      </a:r>
                      <a:r>
                        <a:rPr lang="en-US" dirty="0" err="1">
                          <a:latin typeface="Times New Roman" panose="02020603050405020304" pitchFamily="18" charset="0"/>
                          <a:cs typeface="Times New Roman" panose="02020603050405020304" pitchFamily="18" charset="0"/>
                        </a:rPr>
                        <a:t>Neighbour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Support Vector Machine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Decision Tree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Random Forest Classifier</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Gradient Boosting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Neural Network</a:t>
                      </a:r>
                      <a:endParaRPr lang="en-US" dirty="0">
                        <a:latin typeface="Times New Roman" panose="02020603050405020304" pitchFamily="18" charset="0"/>
                        <a:cs typeface="Times New Roman" panose="02020603050405020304" pitchFamily="18" charset="0"/>
                      </a:endParaRPr>
                    </a:p>
                  </a:txBody>
                  <a:tcPr/>
                </a:tc>
              </a:tr>
              <a:tr h="417220">
                <a:tc>
                  <a:txBody>
                    <a:bodyPr/>
                    <a:lstStyle/>
                    <a:p>
                      <a:r>
                        <a:rPr lang="en-US" dirty="0">
                          <a:latin typeface="Times New Roman" panose="02020603050405020304" pitchFamily="18" charset="0"/>
                          <a:cs typeface="Times New Roman" panose="02020603050405020304" pitchFamily="18" charset="0"/>
                        </a:rPr>
                        <a:t>Accuracy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0.864198</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0.977778</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0.883951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0.869136</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0.977777</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0.869136</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0.869136</a:t>
                      </a:r>
                      <a:endParaRPr lang="en-US" dirty="0">
                        <a:latin typeface="Times New Roman" panose="02020603050405020304" pitchFamily="18" charset="0"/>
                        <a:cs typeface="Times New Roman" panose="02020603050405020304" pitchFamily="18" charset="0"/>
                      </a:endParaRPr>
                    </a:p>
                  </a:txBody>
                  <a:tcPr/>
                </a:tc>
              </a:tr>
              <a:tr h="417220">
                <a:tc>
                  <a:txBody>
                    <a:bodyPr/>
                    <a:lstStyle/>
                    <a:p>
                      <a:r>
                        <a:rPr lang="en-US" dirty="0">
                          <a:latin typeface="Times New Roman" panose="02020603050405020304" pitchFamily="18" charset="0"/>
                          <a:cs typeface="Times New Roman" panose="02020603050405020304" pitchFamily="18" charset="0"/>
                        </a:rPr>
                        <a:t>Precision</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0.856495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0.977652 </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0.878886</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0.867501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0.977595</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0.863144</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0.863144</a:t>
                      </a:r>
                      <a:endParaRPr lang="en-US" dirty="0">
                        <a:latin typeface="Times New Roman" panose="02020603050405020304" pitchFamily="18" charset="0"/>
                        <a:cs typeface="Times New Roman" panose="02020603050405020304" pitchFamily="18" charset="0"/>
                      </a:endParaRPr>
                    </a:p>
                  </a:txBody>
                  <a:tcPr/>
                </a:tc>
              </a:tr>
              <a:tr h="417220">
                <a:tc>
                  <a:txBody>
                    <a:bodyPr/>
                    <a:lstStyle/>
                    <a:p>
                      <a:r>
                        <a:rPr lang="en-US" dirty="0">
                          <a:latin typeface="Times New Roman" panose="02020603050405020304" pitchFamily="18" charset="0"/>
                          <a:cs typeface="Times New Roman" panose="02020603050405020304" pitchFamily="18" charset="0"/>
                        </a:rPr>
                        <a:t>F1 Score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0.856225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0.977635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0.878521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0.854014</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0.967984</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0.864471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0.864471</a:t>
                      </a:r>
                      <a:endParaRPr lang="en-US" dirty="0">
                        <a:latin typeface="Times New Roman" panose="02020603050405020304" pitchFamily="18" charset="0"/>
                        <a:cs typeface="Times New Roman" panose="02020603050405020304" pitchFamily="18" charset="0"/>
                      </a:endParaRPr>
                    </a:p>
                  </a:txBody>
                  <a:tcPr/>
                </a:tc>
              </a:tr>
              <a:tr h="417220">
                <a:tc>
                  <a:txBody>
                    <a:bodyPr/>
                    <a:lstStyle/>
                    <a:p>
                      <a:pPr marL="0" marR="0" lvl="0" indent="0" defTabSz="914400" eaLnBrk="1" fontAlgn="auto" latinLnBrk="0" hangingPunct="1">
                        <a:lnSpc>
                          <a:spcPct val="100000"/>
                        </a:lnSpc>
                        <a:spcBef>
                          <a:spcPts val="0"/>
                        </a:spcBef>
                        <a:spcAft>
                          <a:spcPts val="0"/>
                        </a:spcAft>
                        <a:buClrTx/>
                        <a:buSzTx/>
                        <a:buFontTx/>
                        <a:buNone/>
                        <a:defRPr/>
                      </a:pPr>
                      <a:r>
                        <a:rPr lang="en-US" dirty="0">
                          <a:latin typeface="Times New Roman" panose="02020603050405020304" pitchFamily="18" charset="0"/>
                          <a:cs typeface="Times New Roman" panose="02020603050405020304" pitchFamily="18" charset="0"/>
                        </a:rPr>
                        <a:t>Recall</a:t>
                      </a:r>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defRPr/>
                      </a:pPr>
                      <a:r>
                        <a:rPr lang="en-US" dirty="0">
                          <a:latin typeface="Times New Roman" panose="02020603050405020304" pitchFamily="18" charset="0"/>
                          <a:cs typeface="Times New Roman" panose="02020603050405020304" pitchFamily="18" charset="0"/>
                        </a:rPr>
                        <a:t>0.864198</a:t>
                      </a:r>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defRPr/>
                      </a:pPr>
                      <a:r>
                        <a:rPr lang="en-US" dirty="0">
                          <a:latin typeface="Times New Roman" panose="02020603050405020304" pitchFamily="18" charset="0"/>
                          <a:cs typeface="Times New Roman" panose="02020603050405020304" pitchFamily="18" charset="0"/>
                        </a:rPr>
                        <a:t>0.977778</a:t>
                      </a:r>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defRPr/>
                      </a:pPr>
                      <a:r>
                        <a:rPr lang="en-US" dirty="0">
                          <a:latin typeface="Times New Roman" panose="02020603050405020304" pitchFamily="18" charset="0"/>
                          <a:cs typeface="Times New Roman" panose="02020603050405020304" pitchFamily="18" charset="0"/>
                        </a:rPr>
                        <a:t>0.883951</a:t>
                      </a:r>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defRPr/>
                      </a:pPr>
                      <a:r>
                        <a:rPr lang="en-US" dirty="0">
                          <a:latin typeface="Times New Roman" panose="02020603050405020304" pitchFamily="18" charset="0"/>
                          <a:cs typeface="Times New Roman" panose="02020603050405020304" pitchFamily="18" charset="0"/>
                        </a:rPr>
                        <a:t>0.869136</a:t>
                      </a:r>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defRPr/>
                      </a:pPr>
                      <a:r>
                        <a:rPr lang="en-US" dirty="0">
                          <a:solidFill>
                            <a:srgbClr val="C00000"/>
                          </a:solidFill>
                          <a:latin typeface="Times New Roman" panose="02020603050405020304" pitchFamily="18" charset="0"/>
                          <a:cs typeface="Times New Roman" panose="02020603050405020304" pitchFamily="18" charset="0"/>
                        </a:rPr>
                        <a:t>0.959160</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defRPr/>
                      </a:pPr>
                      <a:r>
                        <a:rPr lang="en-US" dirty="0">
                          <a:latin typeface="Times New Roman" panose="02020603050405020304" pitchFamily="18" charset="0"/>
                          <a:cs typeface="Times New Roman" panose="02020603050405020304" pitchFamily="18" charset="0"/>
                        </a:rPr>
                        <a:t>0.869136</a:t>
                      </a:r>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defRPr/>
                      </a:pPr>
                      <a:r>
                        <a:rPr lang="en-US" dirty="0">
                          <a:latin typeface="Times New Roman" panose="02020603050405020304" pitchFamily="18" charset="0"/>
                          <a:cs typeface="Times New Roman" panose="02020603050405020304" pitchFamily="18" charset="0"/>
                        </a:rPr>
                        <a:t>0.869136</a:t>
                      </a:r>
                      <a:endParaRPr lang="en-US" dirty="0">
                        <a:latin typeface="Times New Roman" panose="02020603050405020304" pitchFamily="18" charset="0"/>
                        <a:cs typeface="Times New Roman" panose="02020603050405020304" pitchFamily="18" charset="0"/>
                      </a:endParaRPr>
                    </a:p>
                  </a:txBody>
                  <a:tcPr/>
                </a:tc>
              </a:tr>
              <a:tr h="566229">
                <a:tc>
                  <a:txBody>
                    <a:bodyPr/>
                    <a:lstStyle/>
                    <a:p>
                      <a:r>
                        <a:rPr lang="en-US" dirty="0">
                          <a:latin typeface="Times New Roman" panose="02020603050405020304" pitchFamily="18" charset="0"/>
                          <a:cs typeface="Times New Roman" panose="02020603050405020304" pitchFamily="18" charset="0"/>
                        </a:rPr>
                        <a:t>Training Accuracy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0.8641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0.9018</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0.8808</a:t>
                      </a:r>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defRPr/>
                      </a:pPr>
                      <a:r>
                        <a:rPr lang="en-US" dirty="0">
                          <a:latin typeface="Times New Roman" panose="02020603050405020304" pitchFamily="18" charset="0"/>
                          <a:cs typeface="Times New Roman" panose="02020603050405020304" pitchFamily="18" charset="0"/>
                        </a:rPr>
                        <a:t>0.9963</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0.9963</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0.9240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0.8326</a:t>
                      </a:r>
                      <a:endParaRPr lang="en-US" dirty="0">
                        <a:latin typeface="Times New Roman" panose="02020603050405020304" pitchFamily="18" charset="0"/>
                        <a:cs typeface="Times New Roman" panose="02020603050405020304" pitchFamily="18" charset="0"/>
                      </a:endParaRPr>
                    </a:p>
                  </a:txBody>
                  <a:tcPr/>
                </a:tc>
              </a:tr>
              <a:tr h="566229">
                <a:tc>
                  <a:txBody>
                    <a:bodyPr/>
                    <a:lstStyle/>
                    <a:p>
                      <a:r>
                        <a:rPr lang="en-US" dirty="0">
                          <a:latin typeface="Times New Roman" panose="02020603050405020304" pitchFamily="18" charset="0"/>
                          <a:cs typeface="Times New Roman" panose="02020603050405020304" pitchFamily="18" charset="0"/>
                        </a:rPr>
                        <a:t>Test Accuracy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0.8765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0.8340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0.8840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0.9802</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0.9802</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0.9333</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0.8395</a:t>
                      </a:r>
                      <a:endParaRPr lang="en-US"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TIME TAKEN (S)</a:t>
            </a:r>
            <a:endParaRPr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980902" y="2038567"/>
            <a:ext cx="6993467" cy="430887"/>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GESTATIONAL DIABETES</a:t>
            </a:r>
            <a:endParaRPr lang="en-US" sz="2200" b="1" dirty="0">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nvGraphicFramePr>
        <p:xfrm>
          <a:off x="141316" y="3097352"/>
          <a:ext cx="10410768" cy="2323210"/>
        </p:xfrm>
        <a:graphic>
          <a:graphicData uri="http://schemas.openxmlformats.org/drawingml/2006/table">
            <a:tbl>
              <a:tblPr firstRow="1" bandRow="1">
                <a:tableStyleId>{5C22544A-7EE6-4342-B048-85BDC9FD1C3A}</a:tableStyleId>
              </a:tblPr>
              <a:tblGrid>
                <a:gridCol w="1301346"/>
                <a:gridCol w="1301346"/>
                <a:gridCol w="1301346"/>
                <a:gridCol w="1301346"/>
                <a:gridCol w="1301346"/>
                <a:gridCol w="1301346"/>
                <a:gridCol w="1301346"/>
                <a:gridCol w="1301346"/>
              </a:tblGrid>
              <a:tr h="1043050">
                <a:tc>
                  <a:txBody>
                    <a:bodyPr/>
                    <a:lstStyle/>
                    <a:p>
                      <a:r>
                        <a:rPr lang="en-US" dirty="0">
                          <a:latin typeface="Times New Roman" panose="02020603050405020304" pitchFamily="18" charset="0"/>
                          <a:cs typeface="Times New Roman" panose="02020603050405020304" pitchFamily="18" charset="0"/>
                        </a:rPr>
                        <a:t>Performance Metrics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Logistic Regression</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K-Nearest </a:t>
                      </a:r>
                      <a:r>
                        <a:rPr lang="en-US" dirty="0" err="1">
                          <a:latin typeface="Times New Roman" panose="02020603050405020304" pitchFamily="18" charset="0"/>
                          <a:cs typeface="Times New Roman" panose="02020603050405020304" pitchFamily="18" charset="0"/>
                        </a:rPr>
                        <a:t>Neighbour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Support Vector Machine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Decision Tree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Random Forest Classifier</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Gradient Boosting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Neural Network</a:t>
                      </a:r>
                      <a:endParaRPr lang="en-US" dirty="0">
                        <a:latin typeface="Times New Roman" panose="02020603050405020304" pitchFamily="18" charset="0"/>
                        <a:cs typeface="Times New Roman" panose="02020603050405020304" pitchFamily="18" charset="0"/>
                      </a:endParaRPr>
                    </a:p>
                  </a:txBody>
                  <a:tcPr/>
                </a:tc>
              </a:tr>
              <a:tr h="417220">
                <a:tc>
                  <a:txBody>
                    <a:bodyPr/>
                    <a:lstStyle/>
                    <a:p>
                      <a:r>
                        <a:rPr lang="en-US" dirty="0">
                          <a:latin typeface="Times New Roman" panose="02020603050405020304" pitchFamily="18" charset="0"/>
                          <a:cs typeface="Times New Roman" panose="02020603050405020304" pitchFamily="18" charset="0"/>
                        </a:rPr>
                        <a:t>Training Time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0.0100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0.0050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0.0758</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0.0060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0.4767</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0.2922</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3.4149</a:t>
                      </a:r>
                      <a:endParaRPr lang="en-US" dirty="0">
                        <a:latin typeface="Times New Roman" panose="02020603050405020304" pitchFamily="18" charset="0"/>
                        <a:cs typeface="Times New Roman" panose="02020603050405020304" pitchFamily="18" charset="0"/>
                      </a:endParaRPr>
                    </a:p>
                  </a:txBody>
                  <a:tcPr/>
                </a:tc>
              </a:tr>
              <a:tr h="417220">
                <a:tc>
                  <a:txBody>
                    <a:bodyPr/>
                    <a:lstStyle/>
                    <a:p>
                      <a:r>
                        <a:rPr lang="en-US" dirty="0">
                          <a:latin typeface="Times New Roman" panose="02020603050405020304" pitchFamily="18" charset="0"/>
                          <a:cs typeface="Times New Roman" panose="02020603050405020304" pitchFamily="18" charset="0"/>
                        </a:rPr>
                        <a:t>Prediction Time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0.0010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0.0329</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0.0309</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0.0001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0.0100</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0.0010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0.0010</a:t>
                      </a:r>
                      <a:endParaRPr lang="en-US"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MODEL SELECTION</a:t>
            </a:r>
            <a:endParaRPr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980902" y="2038567"/>
            <a:ext cx="6993467" cy="430887"/>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ANEMIA</a:t>
            </a:r>
            <a:endParaRPr lang="en-US" sz="22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149628" y="2469454"/>
            <a:ext cx="10693400" cy="769441"/>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Here we chose Logistic Regression because it was the best performing model and it also generalizes well to unseen data. </a:t>
            </a:r>
            <a:endParaRPr lang="en-US" sz="2200" dirty="0">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nvGraphicFramePr>
        <p:xfrm>
          <a:off x="149628" y="3360270"/>
          <a:ext cx="10394144" cy="4134844"/>
        </p:xfrm>
        <a:graphic>
          <a:graphicData uri="http://schemas.openxmlformats.org/drawingml/2006/table">
            <a:tbl>
              <a:tblPr firstRow="1" bandRow="1">
                <a:tableStyleId>{5C22544A-7EE6-4342-B048-85BDC9FD1C3A}</a:tableStyleId>
              </a:tblPr>
              <a:tblGrid>
                <a:gridCol w="1299268"/>
                <a:gridCol w="1299268"/>
                <a:gridCol w="1299268"/>
                <a:gridCol w="1299268"/>
                <a:gridCol w="1299268"/>
                <a:gridCol w="1299268"/>
                <a:gridCol w="1299268"/>
                <a:gridCol w="1299268"/>
              </a:tblGrid>
              <a:tr h="1088652">
                <a:tc>
                  <a:txBody>
                    <a:bodyPr/>
                    <a:lstStyle/>
                    <a:p>
                      <a:r>
                        <a:rPr lang="en-US" dirty="0">
                          <a:latin typeface="Times New Roman" panose="02020603050405020304" pitchFamily="18" charset="0"/>
                          <a:cs typeface="Times New Roman" panose="02020603050405020304" pitchFamily="18" charset="0"/>
                        </a:rPr>
                        <a:t>Performance Metrics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Logistic Regression</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K-Nearest </a:t>
                      </a:r>
                      <a:r>
                        <a:rPr lang="en-US" dirty="0" err="1">
                          <a:latin typeface="Times New Roman" panose="02020603050405020304" pitchFamily="18" charset="0"/>
                          <a:cs typeface="Times New Roman" panose="02020603050405020304" pitchFamily="18" charset="0"/>
                        </a:rPr>
                        <a:t>Neighbour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Support Vector Machine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Decision Tree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Random Forest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Gradient Boosting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Neural Network</a:t>
                      </a:r>
                      <a:endParaRPr lang="en-US" dirty="0">
                        <a:latin typeface="Times New Roman" panose="02020603050405020304" pitchFamily="18" charset="0"/>
                        <a:cs typeface="Times New Roman" panose="02020603050405020304" pitchFamily="18" charset="0"/>
                      </a:endParaRPr>
                    </a:p>
                  </a:txBody>
                  <a:tcPr/>
                </a:tc>
              </a:tr>
              <a:tr h="441508">
                <a:tc>
                  <a:txBody>
                    <a:bodyPr/>
                    <a:lstStyle/>
                    <a:p>
                      <a:r>
                        <a:rPr lang="en-US" dirty="0">
                          <a:latin typeface="Times New Roman" panose="02020603050405020304" pitchFamily="18" charset="0"/>
                          <a:cs typeface="Times New Roman" panose="02020603050405020304" pitchFamily="18" charset="0"/>
                        </a:rPr>
                        <a:t>Accuracy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0.9733</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0.9400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0.9400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0.8600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0.9350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0.9100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0.9400</a:t>
                      </a:r>
                      <a:endParaRPr lang="en-US" dirty="0">
                        <a:latin typeface="Times New Roman" panose="02020603050405020304" pitchFamily="18" charset="0"/>
                        <a:cs typeface="Times New Roman" panose="02020603050405020304" pitchFamily="18" charset="0"/>
                      </a:endParaRPr>
                    </a:p>
                  </a:txBody>
                  <a:tcPr/>
                </a:tc>
              </a:tr>
              <a:tr h="441508">
                <a:tc>
                  <a:txBody>
                    <a:bodyPr/>
                    <a:lstStyle/>
                    <a:p>
                      <a:r>
                        <a:rPr lang="en-US" dirty="0">
                          <a:latin typeface="Times New Roman" panose="02020603050405020304" pitchFamily="18" charset="0"/>
                          <a:cs typeface="Times New Roman" panose="02020603050405020304" pitchFamily="18" charset="0"/>
                        </a:rPr>
                        <a:t>Precision</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0.9600</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0.9400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0.9400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0.9494</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0.9397</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0.9474</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0.9400</a:t>
                      </a:r>
                      <a:endParaRPr lang="en-US" dirty="0">
                        <a:latin typeface="Times New Roman" panose="02020603050405020304" pitchFamily="18" charset="0"/>
                        <a:cs typeface="Times New Roman" panose="02020603050405020304" pitchFamily="18" charset="0"/>
                      </a:endParaRPr>
                    </a:p>
                  </a:txBody>
                  <a:tcPr/>
                </a:tc>
              </a:tr>
              <a:tr h="441508">
                <a:tc>
                  <a:txBody>
                    <a:bodyPr/>
                    <a:lstStyle/>
                    <a:p>
                      <a:r>
                        <a:rPr lang="en-US" dirty="0">
                          <a:latin typeface="Times New Roman" panose="02020603050405020304" pitchFamily="18" charset="0"/>
                          <a:cs typeface="Times New Roman" panose="02020603050405020304" pitchFamily="18" charset="0"/>
                        </a:rPr>
                        <a:t>F1 Score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0.9600</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0.9691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0.9691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0.9235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0.9664</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0.9525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0.9691</a:t>
                      </a:r>
                      <a:endParaRPr lang="en-US" dirty="0">
                        <a:latin typeface="Times New Roman" panose="02020603050405020304" pitchFamily="18" charset="0"/>
                        <a:cs typeface="Times New Roman" panose="02020603050405020304" pitchFamily="18" charset="0"/>
                      </a:endParaRPr>
                    </a:p>
                  </a:txBody>
                  <a:tcPr/>
                </a:tc>
              </a:tr>
              <a:tr h="441508">
                <a:tc>
                  <a:txBody>
                    <a:bodyPr/>
                    <a:lstStyle/>
                    <a:p>
                      <a:r>
                        <a:rPr lang="en-US" dirty="0">
                          <a:latin typeface="Times New Roman" panose="02020603050405020304" pitchFamily="18" charset="0"/>
                          <a:cs typeface="Times New Roman" panose="02020603050405020304" pitchFamily="18" charset="0"/>
                        </a:rPr>
                        <a:t>Recall</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0.9600</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1.0000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1.0000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0.8989</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0.9947</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0.9574</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1.0000</a:t>
                      </a:r>
                      <a:endParaRPr lang="en-US" dirty="0">
                        <a:latin typeface="Times New Roman" panose="02020603050405020304" pitchFamily="18" charset="0"/>
                        <a:cs typeface="Times New Roman" panose="02020603050405020304" pitchFamily="18" charset="0"/>
                      </a:endParaRPr>
                    </a:p>
                  </a:txBody>
                  <a:tcPr/>
                </a:tc>
              </a:tr>
              <a:tr h="533497">
                <a:tc>
                  <a:txBody>
                    <a:bodyPr/>
                    <a:lstStyle/>
                    <a:p>
                      <a:r>
                        <a:rPr lang="en-US" dirty="0">
                          <a:latin typeface="Times New Roman" panose="02020603050405020304" pitchFamily="18" charset="0"/>
                          <a:cs typeface="Times New Roman" panose="02020603050405020304" pitchFamily="18" charset="0"/>
                        </a:rPr>
                        <a:t>Training Accuracy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0.9687</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0.8645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0.8645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1.0000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1.0000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0.9799</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1.0000</a:t>
                      </a:r>
                      <a:endParaRPr lang="en-US" dirty="0">
                        <a:latin typeface="Times New Roman" panose="02020603050405020304" pitchFamily="18" charset="0"/>
                        <a:cs typeface="Times New Roman" panose="02020603050405020304" pitchFamily="18" charset="0"/>
                      </a:endParaRPr>
                    </a:p>
                  </a:txBody>
                  <a:tcPr/>
                </a:tc>
              </a:tr>
              <a:tr h="533497">
                <a:tc>
                  <a:txBody>
                    <a:bodyPr/>
                    <a:lstStyle/>
                    <a:p>
                      <a:r>
                        <a:rPr lang="en-US" dirty="0">
                          <a:latin typeface="Times New Roman" panose="02020603050405020304" pitchFamily="18" charset="0"/>
                          <a:cs typeface="Times New Roman" panose="02020603050405020304" pitchFamily="18" charset="0"/>
                        </a:rPr>
                        <a:t>Test Accuracy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0.9352</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0.8950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0.9000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0.8900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0.9650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0.9450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0.9050</a:t>
                      </a:r>
                      <a:endParaRPr lang="en-US"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TIME TAKEN (S)</a:t>
            </a:r>
            <a:endParaRPr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980902" y="2038567"/>
            <a:ext cx="6993467" cy="430887"/>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ANEMIA</a:t>
            </a:r>
            <a:endParaRPr lang="en-US" sz="2200" b="1" dirty="0">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nvGraphicFramePr>
        <p:xfrm>
          <a:off x="141316" y="3097352"/>
          <a:ext cx="10410768" cy="2323210"/>
        </p:xfrm>
        <a:graphic>
          <a:graphicData uri="http://schemas.openxmlformats.org/drawingml/2006/table">
            <a:tbl>
              <a:tblPr firstRow="1" bandRow="1">
                <a:tableStyleId>{5C22544A-7EE6-4342-B048-85BDC9FD1C3A}</a:tableStyleId>
              </a:tblPr>
              <a:tblGrid>
                <a:gridCol w="1301346"/>
                <a:gridCol w="1301346"/>
                <a:gridCol w="1301346"/>
                <a:gridCol w="1301346"/>
                <a:gridCol w="1301346"/>
                <a:gridCol w="1301346"/>
                <a:gridCol w="1301346"/>
                <a:gridCol w="1301346"/>
              </a:tblGrid>
              <a:tr h="1043050">
                <a:tc>
                  <a:txBody>
                    <a:bodyPr/>
                    <a:lstStyle/>
                    <a:p>
                      <a:r>
                        <a:rPr lang="en-US" dirty="0">
                          <a:latin typeface="Times New Roman" panose="02020603050405020304" pitchFamily="18" charset="0"/>
                          <a:cs typeface="Times New Roman" panose="02020603050405020304" pitchFamily="18" charset="0"/>
                        </a:rPr>
                        <a:t>Performance Metrics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Logistic Regression</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K-Nearest </a:t>
                      </a:r>
                      <a:r>
                        <a:rPr lang="en-US" dirty="0" err="1">
                          <a:latin typeface="Times New Roman" panose="02020603050405020304" pitchFamily="18" charset="0"/>
                          <a:cs typeface="Times New Roman" panose="02020603050405020304" pitchFamily="18" charset="0"/>
                        </a:rPr>
                        <a:t>Neighbour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Support Vector Machine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Decision Tree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Random Forest Classifier</a:t>
                      </a:r>
                      <a:endParaRPr lang="en-US"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Gradient Boosting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Neural Network</a:t>
                      </a:r>
                      <a:endParaRPr lang="en-US" dirty="0">
                        <a:latin typeface="Times New Roman" panose="02020603050405020304" pitchFamily="18" charset="0"/>
                        <a:cs typeface="Times New Roman" panose="02020603050405020304" pitchFamily="18" charset="0"/>
                      </a:endParaRPr>
                    </a:p>
                  </a:txBody>
                  <a:tcPr/>
                </a:tc>
              </a:tr>
              <a:tr h="417220">
                <a:tc>
                  <a:txBody>
                    <a:bodyPr/>
                    <a:lstStyle/>
                    <a:p>
                      <a:r>
                        <a:rPr lang="en-US" dirty="0">
                          <a:latin typeface="Times New Roman" panose="02020603050405020304" pitchFamily="18" charset="0"/>
                          <a:cs typeface="Times New Roman" panose="02020603050405020304" pitchFamily="18" charset="0"/>
                        </a:rPr>
                        <a:t>Training Time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0.1795</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0.0110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0.1466</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0.0110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chemeClr val="tx1"/>
                          </a:solidFill>
                          <a:latin typeface="Times New Roman" panose="02020603050405020304" pitchFamily="18" charset="0"/>
                          <a:cs typeface="Times New Roman" panose="02020603050405020304" pitchFamily="18" charset="0"/>
                        </a:rPr>
                        <a:t>0.3521</a:t>
                      </a:r>
                      <a:endParaRPr lang="en-US"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0.5217</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2.6669</a:t>
                      </a:r>
                      <a:endParaRPr lang="en-US" dirty="0">
                        <a:latin typeface="Times New Roman" panose="02020603050405020304" pitchFamily="18" charset="0"/>
                        <a:cs typeface="Times New Roman" panose="02020603050405020304" pitchFamily="18" charset="0"/>
                      </a:endParaRPr>
                    </a:p>
                  </a:txBody>
                  <a:tcPr/>
                </a:tc>
              </a:tr>
              <a:tr h="417220">
                <a:tc>
                  <a:txBody>
                    <a:bodyPr/>
                    <a:lstStyle/>
                    <a:p>
                      <a:r>
                        <a:rPr lang="en-US" dirty="0">
                          <a:latin typeface="Times New Roman" panose="02020603050405020304" pitchFamily="18" charset="0"/>
                          <a:cs typeface="Times New Roman" panose="02020603050405020304" pitchFamily="18" charset="0"/>
                        </a:rPr>
                        <a:t>Prediction Time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0.0070</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0.0339</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0.0499</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0.0060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chemeClr val="tx1"/>
                          </a:solidFill>
                          <a:latin typeface="Times New Roman" panose="02020603050405020304" pitchFamily="18" charset="0"/>
                          <a:cs typeface="Times New Roman" panose="02020603050405020304" pitchFamily="18" charset="0"/>
                        </a:rPr>
                        <a:t>0.0140</a:t>
                      </a:r>
                      <a:endParaRPr lang="en-US"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0.0039</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0.0040</a:t>
                      </a:r>
                      <a:endParaRPr lang="en-US"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BRIEF DESCRIPTION OF MODELS</a:t>
            </a:r>
            <a:endParaRPr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0" y="1925053"/>
            <a:ext cx="10693400" cy="4893647"/>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LOGISTIC REGRESSION </a:t>
            </a:r>
            <a:endParaRPr lang="en-US" sz="2400" b="1" dirty="0">
              <a:latin typeface="Times New Roman" panose="02020603050405020304" pitchFamily="18" charset="0"/>
              <a:cs typeface="Times New Roman" panose="02020603050405020304" pitchFamily="18" charset="0"/>
            </a:endParaRPr>
          </a:p>
          <a:p>
            <a:pPr algn="ctr"/>
            <a:r>
              <a:rPr lang="en-US" sz="2400" b="1" dirty="0">
                <a:latin typeface="Times New Roman" panose="02020603050405020304" pitchFamily="18" charset="0"/>
                <a:cs typeface="Times New Roman" panose="02020603050405020304" pitchFamily="18" charset="0"/>
              </a:rPr>
              <a:t> </a:t>
            </a:r>
            <a:endParaRPr lang="en-US" sz="2400" b="1"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ea typeface="Tahoma" panose="020B0604030504040204" pitchFamily="34" charset="0"/>
                <a:cs typeface="Times New Roman" panose="02020603050405020304" pitchFamily="18" charset="0"/>
              </a:rPr>
              <a:t>Logistic regression is a statistical model used for binary classification tasks, where the output is a categorical variable with two possible outcomes. The model uses a sigmoid function to map predicted values to probabilities. </a:t>
            </a:r>
            <a:endParaRPr lang="en-US" sz="2400" dirty="0">
              <a:latin typeface="Times New Roman" panose="02020603050405020304" pitchFamily="18" charset="0"/>
              <a:ea typeface="Tahoma" panose="020B0604030504040204" pitchFamily="34" charset="0"/>
              <a:cs typeface="Times New Roman" panose="02020603050405020304" pitchFamily="18" charset="0"/>
            </a:endParaRPr>
          </a:p>
          <a:p>
            <a:pPr>
              <a:buNone/>
            </a:pPr>
            <a:endParaRPr lang="en-US" sz="2400" dirty="0"/>
          </a:p>
          <a:p>
            <a:pPr>
              <a:buNone/>
            </a:pPr>
            <a:endParaRPr lang="en-US" sz="2400" b="1" dirty="0"/>
          </a:p>
          <a:p>
            <a:pPr>
              <a:buNone/>
            </a:pPr>
            <a:endParaRPr lang="en-US" sz="2400" b="1" dirty="0"/>
          </a:p>
          <a:p>
            <a:pPr algn="ctr"/>
            <a:r>
              <a:rPr lang="en-US" sz="2400" b="1" dirty="0">
                <a:latin typeface="Times New Roman" panose="02020603050405020304" pitchFamily="18" charset="0"/>
                <a:cs typeface="Times New Roman" panose="02020603050405020304" pitchFamily="18" charset="0"/>
              </a:rPr>
              <a:t>Random Forest Classifier </a:t>
            </a:r>
            <a:endParaRPr lang="en-US" sz="2400" b="1" dirty="0">
              <a:latin typeface="Times New Roman" panose="02020603050405020304" pitchFamily="18" charset="0"/>
              <a:cs typeface="Times New Roman" panose="02020603050405020304" pitchFamily="18" charset="0"/>
            </a:endParaRPr>
          </a:p>
          <a:p>
            <a:pPr algn="ctr"/>
            <a:endParaRPr lang="en-US" sz="2400" b="1"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A Random Forest classifier is an ensemble learning method used for classification tasks, which combines the predictions of multiple decision trees to improve accuracy and prevent overfitting. </a:t>
            </a:r>
            <a:endParaRPr lang="en-US" sz="2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MACHINE LEARNING WORKFLOW</a:t>
            </a:r>
            <a:endParaRPr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8" name="Picture 7" descr="A diagram of a flowchart&#10;&#10;AI-generated content may be incorrect."/>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1742733"/>
            <a:ext cx="10693400" cy="582011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RESULTS</a:t>
            </a:r>
            <a:endParaRPr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0" y="2038567"/>
            <a:ext cx="10693400" cy="430887"/>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PREECLAMPSIA</a:t>
            </a:r>
            <a:endParaRPr lang="en-US" sz="22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 y="2621607"/>
            <a:ext cx="10693400" cy="2062103"/>
          </a:xfrm>
          <a:prstGeom prst="rect">
            <a:avLst/>
          </a:prstGeom>
          <a:noFill/>
        </p:spPr>
        <p:txBody>
          <a:bodyPr wrap="square" rtlCol="0">
            <a:spAutoFit/>
          </a:bodyPr>
          <a:lstStyle/>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Training Accuracy: </a:t>
            </a:r>
            <a:r>
              <a:rPr lang="en-US" sz="2200" dirty="0">
                <a:latin typeface="Times New Roman" panose="02020603050405020304" pitchFamily="18" charset="0"/>
                <a:cs typeface="Times New Roman" panose="02020603050405020304" pitchFamily="18" charset="0"/>
              </a:rPr>
              <a:t>0.92 </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Test Accuracy: </a:t>
            </a:r>
            <a:r>
              <a:rPr lang="en-US" sz="2200" dirty="0">
                <a:latin typeface="Times New Roman" panose="02020603050405020304" pitchFamily="18" charset="0"/>
                <a:cs typeface="Times New Roman" panose="02020603050405020304" pitchFamily="18" charset="0"/>
              </a:rPr>
              <a:t>0.90</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Precision: </a:t>
            </a:r>
            <a:r>
              <a:rPr lang="en-US" sz="2200" dirty="0">
                <a:latin typeface="Times New Roman" panose="02020603050405020304" pitchFamily="18" charset="0"/>
                <a:cs typeface="Times New Roman" panose="02020603050405020304" pitchFamily="18" charset="0"/>
              </a:rPr>
              <a:t>0.94</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Recall: </a:t>
            </a:r>
            <a:r>
              <a:rPr lang="en-US" sz="2200" dirty="0">
                <a:latin typeface="Times New Roman" panose="02020603050405020304" pitchFamily="18" charset="0"/>
                <a:cs typeface="Times New Roman" panose="02020603050405020304" pitchFamily="18" charset="0"/>
              </a:rPr>
              <a:t>0.93</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F1 Score: </a:t>
            </a:r>
            <a:r>
              <a:rPr lang="en-US" sz="2200" dirty="0">
                <a:latin typeface="Times New Roman" panose="02020603050405020304" pitchFamily="18" charset="0"/>
                <a:cs typeface="Times New Roman" panose="02020603050405020304" pitchFamily="18" charset="0"/>
              </a:rPr>
              <a:t>0.93</a:t>
            </a:r>
            <a:endParaRPr lang="en-US" sz="2200" dirty="0">
              <a:latin typeface="Times New Roman" panose="02020603050405020304" pitchFamily="18" charset="0"/>
              <a:cs typeface="Times New Roman" panose="02020603050405020304" pitchFamily="18" charset="0"/>
            </a:endParaRPr>
          </a:p>
          <a:p>
            <a:endParaRPr lang="en-US" dirty="0"/>
          </a:p>
        </p:txBody>
      </p:sp>
      <p:sp>
        <p:nvSpPr>
          <p:cNvPr id="5" name="TextBox 4"/>
          <p:cNvSpPr txBox="1"/>
          <p:nvPr/>
        </p:nvSpPr>
        <p:spPr>
          <a:xfrm>
            <a:off x="0" y="5505640"/>
            <a:ext cx="10693400" cy="2400657"/>
          </a:xfrm>
          <a:prstGeom prst="rect">
            <a:avLst/>
          </a:prstGeom>
          <a:noFill/>
        </p:spPr>
        <p:txBody>
          <a:bodyPr wrap="square" rtlCol="0">
            <a:spAutoFit/>
          </a:bodyPr>
          <a:lstStyle/>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Cross validation Scores across each fold</a:t>
            </a:r>
            <a:r>
              <a:rPr lang="en-US" sz="2200" dirty="0">
                <a:latin typeface="Times New Roman" panose="02020603050405020304" pitchFamily="18" charset="0"/>
                <a:cs typeface="Times New Roman" panose="02020603050405020304" pitchFamily="18" charset="0"/>
              </a:rPr>
              <a:t>: [0.8077   0.6923   0.7308   0.6923   0.8000] </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Mean Cross Validation Score: </a:t>
            </a:r>
            <a:r>
              <a:rPr lang="en-US" sz="2200" dirty="0">
                <a:latin typeface="Times New Roman" panose="02020603050405020304" pitchFamily="18" charset="0"/>
                <a:cs typeface="Times New Roman" panose="02020603050405020304" pitchFamily="18" charset="0"/>
              </a:rPr>
              <a:t>0.7446</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Standard Deviation of Cross Validation Scores: </a:t>
            </a:r>
            <a:r>
              <a:rPr lang="en-US" sz="2200" dirty="0">
                <a:latin typeface="Times New Roman" panose="02020603050405020304" pitchFamily="18" charset="0"/>
                <a:cs typeface="Times New Roman" panose="02020603050405020304" pitchFamily="18" charset="0"/>
              </a:rPr>
              <a:t>0.0504</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Training Accuracy: </a:t>
            </a:r>
            <a:r>
              <a:rPr lang="en-US" sz="2200" dirty="0">
                <a:latin typeface="Times New Roman" panose="02020603050405020304" pitchFamily="18" charset="0"/>
                <a:cs typeface="Times New Roman" panose="02020603050405020304" pitchFamily="18" charset="0"/>
              </a:rPr>
              <a:t>0.9225</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Test Accuracy: </a:t>
            </a:r>
            <a:r>
              <a:rPr lang="en-US" sz="2200" dirty="0">
                <a:latin typeface="Times New Roman" panose="02020603050405020304" pitchFamily="18" charset="0"/>
                <a:cs typeface="Times New Roman" panose="02020603050405020304" pitchFamily="18" charset="0"/>
              </a:rPr>
              <a:t>0.9091</a:t>
            </a:r>
            <a:endParaRPr lang="en-US" sz="2200" dirty="0">
              <a:latin typeface="Times New Roman" panose="02020603050405020304" pitchFamily="18" charset="0"/>
              <a:cs typeface="Times New Roman" panose="02020603050405020304" pitchFamily="18" charset="0"/>
            </a:endParaRPr>
          </a:p>
          <a:p>
            <a:endParaRPr lang="en-US" sz="2200" b="1" dirty="0">
              <a:latin typeface="Times New Roman" panose="02020603050405020304" pitchFamily="18" charset="0"/>
              <a:cs typeface="Times New Roman" panose="02020603050405020304" pitchFamily="18" charset="0"/>
            </a:endParaRPr>
          </a:p>
          <a:p>
            <a:endParaRPr lang="en-US" dirty="0"/>
          </a:p>
        </p:txBody>
      </p:sp>
      <p:sp>
        <p:nvSpPr>
          <p:cNvPr id="6" name="TextBox 5"/>
          <p:cNvSpPr txBox="1"/>
          <p:nvPr/>
        </p:nvSpPr>
        <p:spPr>
          <a:xfrm>
            <a:off x="0" y="5022264"/>
            <a:ext cx="10693399" cy="369332"/>
          </a:xfrm>
          <a:prstGeom prst="rect">
            <a:avLst/>
          </a:prstGeom>
          <a:noFill/>
        </p:spPr>
        <p:txBody>
          <a:bodyPr wrap="square" rtlCol="0">
            <a:spAutoFit/>
          </a:bodyPr>
          <a:lstStyle/>
          <a:p>
            <a:pPr algn="ctr"/>
            <a:r>
              <a:rPr lang="en-US" b="1" dirty="0"/>
              <a:t>K FOLD CROSS VALIDATION SCORES</a:t>
            </a:r>
            <a:endParaRPr lang="en-US"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RESULTS</a:t>
            </a:r>
            <a:endParaRPr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0" y="2038567"/>
            <a:ext cx="10693400" cy="430887"/>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GESTATIONAL DIABETES</a:t>
            </a:r>
            <a:endParaRPr lang="en-US" sz="22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 y="2621607"/>
            <a:ext cx="10693400" cy="2062103"/>
          </a:xfrm>
          <a:prstGeom prst="rect">
            <a:avLst/>
          </a:prstGeom>
          <a:noFill/>
        </p:spPr>
        <p:txBody>
          <a:bodyPr wrap="square" rtlCol="0">
            <a:spAutoFit/>
          </a:bodyPr>
          <a:lstStyle/>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Training Accuracy: </a:t>
            </a:r>
            <a:r>
              <a:rPr lang="en-US" sz="2200" dirty="0">
                <a:latin typeface="Times New Roman" panose="02020603050405020304" pitchFamily="18" charset="0"/>
                <a:cs typeface="Times New Roman" panose="02020603050405020304" pitchFamily="18" charset="0"/>
              </a:rPr>
              <a:t>0.99</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Test Accuracy: </a:t>
            </a:r>
            <a:r>
              <a:rPr lang="en-US" sz="2200" dirty="0">
                <a:latin typeface="Times New Roman" panose="02020603050405020304" pitchFamily="18" charset="0"/>
                <a:cs typeface="Times New Roman" panose="02020603050405020304" pitchFamily="18" charset="0"/>
              </a:rPr>
              <a:t>0.97</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Precision: </a:t>
            </a:r>
            <a:r>
              <a:rPr lang="en-US" sz="2200" dirty="0">
                <a:latin typeface="Times New Roman" panose="02020603050405020304" pitchFamily="18" charset="0"/>
                <a:cs typeface="Times New Roman" panose="02020603050405020304" pitchFamily="18" charset="0"/>
              </a:rPr>
              <a:t>0.98</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Recall: </a:t>
            </a:r>
            <a:r>
              <a:rPr lang="en-US" sz="2200" dirty="0">
                <a:latin typeface="Times New Roman" panose="02020603050405020304" pitchFamily="18" charset="0"/>
                <a:cs typeface="Times New Roman" panose="02020603050405020304" pitchFamily="18" charset="0"/>
              </a:rPr>
              <a:t>0.96</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F1 Score: </a:t>
            </a:r>
            <a:r>
              <a:rPr lang="en-US" sz="2200" dirty="0">
                <a:latin typeface="Times New Roman" panose="02020603050405020304" pitchFamily="18" charset="0"/>
                <a:cs typeface="Times New Roman" panose="02020603050405020304" pitchFamily="18" charset="0"/>
              </a:rPr>
              <a:t>0.97</a:t>
            </a:r>
            <a:endParaRPr lang="en-US" sz="2200" dirty="0">
              <a:latin typeface="Times New Roman" panose="02020603050405020304" pitchFamily="18" charset="0"/>
              <a:cs typeface="Times New Roman" panose="02020603050405020304" pitchFamily="18" charset="0"/>
            </a:endParaRPr>
          </a:p>
          <a:p>
            <a:endParaRPr lang="en-US" dirty="0"/>
          </a:p>
        </p:txBody>
      </p:sp>
      <p:sp>
        <p:nvSpPr>
          <p:cNvPr id="5" name="TextBox 4"/>
          <p:cNvSpPr txBox="1"/>
          <p:nvPr/>
        </p:nvSpPr>
        <p:spPr>
          <a:xfrm>
            <a:off x="0" y="5505640"/>
            <a:ext cx="10693400" cy="2400657"/>
          </a:xfrm>
          <a:prstGeom prst="rect">
            <a:avLst/>
          </a:prstGeom>
          <a:noFill/>
        </p:spPr>
        <p:txBody>
          <a:bodyPr wrap="square" rtlCol="0">
            <a:spAutoFit/>
          </a:bodyPr>
          <a:lstStyle/>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Cross validation Scores across each fold</a:t>
            </a:r>
            <a:r>
              <a:rPr lang="en-US" sz="2200" dirty="0">
                <a:latin typeface="Times New Roman" panose="02020603050405020304" pitchFamily="18" charset="0"/>
                <a:cs typeface="Times New Roman" panose="02020603050405020304" pitchFamily="18" charset="0"/>
              </a:rPr>
              <a:t>: [0.9225  0.9469  0.9187  0.9257  0.9116]</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Mean Cross Validation Score: </a:t>
            </a:r>
            <a:r>
              <a:rPr lang="en-US" sz="2200" dirty="0">
                <a:latin typeface="Times New Roman" panose="02020603050405020304" pitchFamily="18" charset="0"/>
                <a:cs typeface="Times New Roman" panose="02020603050405020304" pitchFamily="18" charset="0"/>
              </a:rPr>
              <a:t>0.9251</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Standard Deviation of Cross Validation Scores: </a:t>
            </a:r>
            <a:r>
              <a:rPr lang="en-US" sz="2200" dirty="0">
                <a:latin typeface="Times New Roman" panose="02020603050405020304" pitchFamily="18" charset="0"/>
                <a:cs typeface="Times New Roman" panose="02020603050405020304" pitchFamily="18" charset="0"/>
              </a:rPr>
              <a:t>0.0119</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Training Accuracy: </a:t>
            </a:r>
            <a:r>
              <a:rPr lang="en-US" sz="2200" dirty="0">
                <a:latin typeface="Times New Roman" panose="02020603050405020304" pitchFamily="18" charset="0"/>
                <a:cs typeface="Times New Roman" panose="02020603050405020304" pitchFamily="18" charset="0"/>
              </a:rPr>
              <a:t>0.9939</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Test Accuracy: </a:t>
            </a:r>
            <a:r>
              <a:rPr lang="en-US" sz="2200" dirty="0">
                <a:latin typeface="Times New Roman" panose="02020603050405020304" pitchFamily="18" charset="0"/>
                <a:cs typeface="Times New Roman" panose="02020603050405020304" pitchFamily="18" charset="0"/>
              </a:rPr>
              <a:t>0.9570</a:t>
            </a:r>
            <a:endParaRPr lang="en-US" sz="2200" dirty="0">
              <a:latin typeface="Times New Roman" panose="02020603050405020304" pitchFamily="18" charset="0"/>
              <a:cs typeface="Times New Roman" panose="02020603050405020304" pitchFamily="18" charset="0"/>
            </a:endParaRPr>
          </a:p>
          <a:p>
            <a:endParaRPr lang="en-US" sz="2200" b="1" dirty="0">
              <a:latin typeface="Times New Roman" panose="02020603050405020304" pitchFamily="18" charset="0"/>
              <a:cs typeface="Times New Roman" panose="02020603050405020304" pitchFamily="18" charset="0"/>
            </a:endParaRPr>
          </a:p>
          <a:p>
            <a:endParaRPr lang="en-US" dirty="0"/>
          </a:p>
        </p:txBody>
      </p:sp>
      <p:sp>
        <p:nvSpPr>
          <p:cNvPr id="6" name="TextBox 5"/>
          <p:cNvSpPr txBox="1"/>
          <p:nvPr/>
        </p:nvSpPr>
        <p:spPr>
          <a:xfrm>
            <a:off x="0" y="5022264"/>
            <a:ext cx="10693399" cy="369332"/>
          </a:xfrm>
          <a:prstGeom prst="rect">
            <a:avLst/>
          </a:prstGeom>
          <a:noFill/>
        </p:spPr>
        <p:txBody>
          <a:bodyPr wrap="square" rtlCol="0">
            <a:spAutoFit/>
          </a:bodyPr>
          <a:lstStyle/>
          <a:p>
            <a:pPr algn="ctr"/>
            <a:r>
              <a:rPr lang="en-US" b="1" dirty="0"/>
              <a:t>K FOLD CROSS VALIDATION SCORES</a:t>
            </a:r>
            <a:endParaRPr lang="en-US" b="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RESULTS</a:t>
            </a:r>
            <a:endParaRPr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0" y="2038567"/>
            <a:ext cx="10693400" cy="430887"/>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ANEMIA</a:t>
            </a:r>
            <a:endParaRPr lang="en-US" sz="22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 y="2621607"/>
            <a:ext cx="10693400" cy="2062103"/>
          </a:xfrm>
          <a:prstGeom prst="rect">
            <a:avLst/>
          </a:prstGeom>
          <a:noFill/>
        </p:spPr>
        <p:txBody>
          <a:bodyPr wrap="square" rtlCol="0">
            <a:spAutoFit/>
          </a:bodyPr>
          <a:lstStyle/>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Training Accuracy: </a:t>
            </a:r>
            <a:r>
              <a:rPr lang="en-US" sz="2200" dirty="0">
                <a:latin typeface="Times New Roman" panose="02020603050405020304" pitchFamily="18" charset="0"/>
                <a:cs typeface="Times New Roman" panose="02020603050405020304" pitchFamily="18" charset="0"/>
              </a:rPr>
              <a:t>0.97</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Test Accuracy: </a:t>
            </a:r>
            <a:r>
              <a:rPr lang="en-US" sz="2200" dirty="0">
                <a:latin typeface="Times New Roman" panose="02020603050405020304" pitchFamily="18" charset="0"/>
                <a:cs typeface="Times New Roman" panose="02020603050405020304" pitchFamily="18" charset="0"/>
              </a:rPr>
              <a:t>0.96</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Precision: </a:t>
            </a:r>
            <a:r>
              <a:rPr lang="en-US" sz="2200" dirty="0">
                <a:latin typeface="Times New Roman" panose="02020603050405020304" pitchFamily="18" charset="0"/>
                <a:cs typeface="Times New Roman" panose="02020603050405020304" pitchFamily="18" charset="0"/>
              </a:rPr>
              <a:t>0.96</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Recall: </a:t>
            </a:r>
            <a:r>
              <a:rPr lang="en-US" sz="2200" dirty="0">
                <a:latin typeface="Times New Roman" panose="02020603050405020304" pitchFamily="18" charset="0"/>
                <a:cs typeface="Times New Roman" panose="02020603050405020304" pitchFamily="18" charset="0"/>
              </a:rPr>
              <a:t>0.96</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F1 Score: </a:t>
            </a:r>
            <a:r>
              <a:rPr lang="en-US" sz="2200" dirty="0">
                <a:latin typeface="Times New Roman" panose="02020603050405020304" pitchFamily="18" charset="0"/>
                <a:cs typeface="Times New Roman" panose="02020603050405020304" pitchFamily="18" charset="0"/>
              </a:rPr>
              <a:t>0.96</a:t>
            </a:r>
            <a:endParaRPr lang="en-US" sz="2200" dirty="0">
              <a:latin typeface="Times New Roman" panose="02020603050405020304" pitchFamily="18" charset="0"/>
              <a:cs typeface="Times New Roman" panose="02020603050405020304" pitchFamily="18" charset="0"/>
            </a:endParaRPr>
          </a:p>
          <a:p>
            <a:endParaRPr lang="en-US" dirty="0"/>
          </a:p>
        </p:txBody>
      </p:sp>
      <p:sp>
        <p:nvSpPr>
          <p:cNvPr id="5" name="TextBox 4"/>
          <p:cNvSpPr txBox="1"/>
          <p:nvPr/>
        </p:nvSpPr>
        <p:spPr>
          <a:xfrm>
            <a:off x="0" y="5505640"/>
            <a:ext cx="10693400" cy="2431435"/>
          </a:xfrm>
          <a:prstGeom prst="rect">
            <a:avLst/>
          </a:prstGeom>
          <a:noFill/>
        </p:spPr>
        <p:txBody>
          <a:bodyPr wrap="square" rtlCol="0">
            <a:spAutoFit/>
          </a:bodyPr>
          <a:lstStyle/>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Cross validation Scores across each fold</a:t>
            </a:r>
            <a:r>
              <a:rPr lang="en-US" sz="2200" dirty="0">
                <a:latin typeface="Times New Roman" panose="02020603050405020304" pitchFamily="18" charset="0"/>
                <a:cs typeface="Times New Roman" panose="02020603050405020304" pitchFamily="18" charset="0"/>
              </a:rPr>
              <a:t>: [0.9300 0.9450 0.9200 0.8944 0,9447]  </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Mean Cross Validation Score: </a:t>
            </a:r>
            <a:r>
              <a:rPr lang="en-US" sz="2200" dirty="0">
                <a:latin typeface="Times New Roman" panose="02020603050405020304" pitchFamily="18" charset="0"/>
                <a:cs typeface="Times New Roman" panose="02020603050405020304" pitchFamily="18" charset="0"/>
              </a:rPr>
              <a:t>0.9268</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Standard Deviation of Cross Validation Scores: </a:t>
            </a:r>
            <a:r>
              <a:rPr lang="en-US" sz="2200" dirty="0">
                <a:latin typeface="Times New Roman" panose="02020603050405020304" pitchFamily="18" charset="0"/>
                <a:cs typeface="Times New Roman" panose="02020603050405020304" pitchFamily="18" charset="0"/>
              </a:rPr>
              <a:t>0.0187</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Training Accuracy: </a:t>
            </a:r>
            <a:r>
              <a:rPr lang="en-US" sz="2200" dirty="0">
                <a:latin typeface="Times New Roman" panose="02020603050405020304" pitchFamily="18" charset="0"/>
                <a:cs typeface="Times New Roman" panose="02020603050405020304" pitchFamily="18" charset="0"/>
              </a:rPr>
              <a:t>0.9704</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Test Accuracy: </a:t>
            </a:r>
            <a:r>
              <a:rPr lang="en-US" sz="2200" dirty="0">
                <a:latin typeface="Times New Roman" panose="02020603050405020304" pitchFamily="18" charset="0"/>
                <a:cs typeface="Times New Roman" panose="02020603050405020304" pitchFamily="18" charset="0"/>
              </a:rPr>
              <a:t>0.9268</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b="1" dirty="0">
              <a:latin typeface="Times New Roman" panose="02020603050405020304" pitchFamily="18" charset="0"/>
              <a:cs typeface="Times New Roman" panose="02020603050405020304" pitchFamily="18" charset="0"/>
            </a:endParaRPr>
          </a:p>
          <a:p>
            <a:endParaRPr lang="en-US" dirty="0"/>
          </a:p>
        </p:txBody>
      </p:sp>
      <p:sp>
        <p:nvSpPr>
          <p:cNvPr id="6" name="TextBox 5"/>
          <p:cNvSpPr txBox="1"/>
          <p:nvPr/>
        </p:nvSpPr>
        <p:spPr>
          <a:xfrm>
            <a:off x="0" y="5022264"/>
            <a:ext cx="10693399" cy="369332"/>
          </a:xfrm>
          <a:prstGeom prst="rect">
            <a:avLst/>
          </a:prstGeom>
          <a:noFill/>
        </p:spPr>
        <p:txBody>
          <a:bodyPr wrap="square" rtlCol="0">
            <a:spAutoFit/>
          </a:bodyPr>
          <a:lstStyle/>
          <a:p>
            <a:pPr algn="ctr"/>
            <a:r>
              <a:rPr lang="en-US" b="1" dirty="0"/>
              <a:t>K FOLD CROSS VALIDATION SCORES</a:t>
            </a:r>
            <a:endParaRPr lang="en-US"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LIMITATIONS</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0" y="2069668"/>
            <a:ext cx="10693400" cy="830997"/>
          </a:xfrm>
          <a:prstGeom prst="rect">
            <a:avLst/>
          </a:prstGeom>
          <a:noFill/>
        </p:spPr>
        <p:txBody>
          <a:bodyPr wrap="square" rtlCol="0">
            <a:spAutoFit/>
          </a:bodyPr>
          <a:lstStyle/>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Public Datasets have limited number of records</a:t>
            </a:r>
            <a:endParaRPr lang="en-US" sz="2200" dirty="0">
              <a:latin typeface="Times New Roman" panose="02020603050405020304" pitchFamily="18" charset="0"/>
              <a:cs typeface="Times New Roman" panose="02020603050405020304" pitchFamily="18" charset="0"/>
            </a:endParaRPr>
          </a:p>
          <a:p>
            <a:endParaRPr lang="en-US" sz="2400" b="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551175"/>
            <a:ext cx="11030284" cy="751205"/>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CREATE PRESCRIPTION PAGE</a:t>
            </a: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3" name="Picture 2" descr="CreateDrugPrescriptionPage"/>
          <p:cNvPicPr>
            <a:picLocks noChangeAspect="1"/>
          </p:cNvPicPr>
          <p:nvPr/>
        </p:nvPicPr>
        <p:blipFill>
          <a:blip r:embed="rId1"/>
          <a:stretch>
            <a:fillRect/>
          </a:stretch>
        </p:blipFill>
        <p:spPr>
          <a:xfrm>
            <a:off x="0" y="1302385"/>
            <a:ext cx="10692765" cy="626046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551175"/>
            <a:ext cx="11030284" cy="751205"/>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VIEW PRESCRIPTIONS PAGE</a:t>
            </a: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4" name="Picture 3" descr="ViewAllPrescriptionsPage"/>
          <p:cNvPicPr>
            <a:picLocks noChangeAspect="1"/>
          </p:cNvPicPr>
          <p:nvPr/>
        </p:nvPicPr>
        <p:blipFill>
          <a:blip r:embed="rId1"/>
          <a:stretch>
            <a:fillRect/>
          </a:stretch>
        </p:blipFill>
        <p:spPr>
          <a:xfrm>
            <a:off x="-635" y="1303020"/>
            <a:ext cx="10694670" cy="625919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 y="435605"/>
            <a:ext cx="11030284" cy="1489710"/>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REAL-TIME CHAT PAGE</a:t>
            </a:r>
            <a:br>
              <a:rPr lang="en-US" sz="4800" spc="-95" dirty="0">
                <a:latin typeface="Times New Roman" panose="02020603050405020304" pitchFamily="18" charset="0"/>
                <a:cs typeface="Times New Roman" panose="02020603050405020304" pitchFamily="18" charset="0"/>
              </a:rPr>
            </a:b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3" name="Picture 2" descr="LiveChatWithPregnantWoman-UsingWebSockets"/>
          <p:cNvPicPr>
            <a:picLocks noChangeAspect="1"/>
          </p:cNvPicPr>
          <p:nvPr/>
        </p:nvPicPr>
        <p:blipFill>
          <a:blip r:embed="rId1"/>
          <a:stretch>
            <a:fillRect/>
          </a:stretch>
        </p:blipFill>
        <p:spPr>
          <a:xfrm>
            <a:off x="0" y="1085215"/>
            <a:ext cx="10692765" cy="647763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 y="435605"/>
            <a:ext cx="11030284" cy="1489710"/>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REAL-TIME CHAT PAGE</a:t>
            </a:r>
            <a:br>
              <a:rPr lang="en-US" sz="4800" spc="-95" dirty="0">
                <a:latin typeface="Times New Roman" panose="02020603050405020304" pitchFamily="18" charset="0"/>
                <a:cs typeface="Times New Roman" panose="02020603050405020304" pitchFamily="18" charset="0"/>
              </a:rPr>
            </a:b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4" name="Picture 3" descr="LiveChatWithDoctorPage-UsingWebSockets"/>
          <p:cNvPicPr>
            <a:picLocks noChangeAspect="1"/>
          </p:cNvPicPr>
          <p:nvPr/>
        </p:nvPicPr>
        <p:blipFill>
          <a:blip r:embed="rId1"/>
          <a:stretch>
            <a:fillRect/>
          </a:stretch>
        </p:blipFill>
        <p:spPr>
          <a:xfrm>
            <a:off x="0" y="1099820"/>
            <a:ext cx="10693400" cy="646366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 y="435605"/>
            <a:ext cx="11030284" cy="1489710"/>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CHATBOT PAGE</a:t>
            </a:r>
            <a:br>
              <a:rPr lang="en-US" sz="4800" spc="-95" dirty="0">
                <a:latin typeface="Times New Roman" panose="02020603050405020304" pitchFamily="18" charset="0"/>
                <a:cs typeface="Times New Roman" panose="02020603050405020304" pitchFamily="18" charset="0"/>
              </a:rPr>
            </a:b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3" name="Picture 2" descr="PregnantWomanChatbot"/>
          <p:cNvPicPr>
            <a:picLocks noChangeAspect="1"/>
          </p:cNvPicPr>
          <p:nvPr/>
        </p:nvPicPr>
        <p:blipFill>
          <a:blip r:embed="rId1"/>
          <a:stretch>
            <a:fillRect/>
          </a:stretch>
        </p:blipFill>
        <p:spPr>
          <a:xfrm>
            <a:off x="635" y="1122045"/>
            <a:ext cx="10692130" cy="644144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 y="435605"/>
            <a:ext cx="11030284" cy="1489710"/>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DIAGNOSTIC REPORT PAGE</a:t>
            </a:r>
            <a:br>
              <a:rPr lang="en-US" sz="4800" spc="-95" dirty="0">
                <a:latin typeface="Times New Roman" panose="02020603050405020304" pitchFamily="18" charset="0"/>
                <a:cs typeface="Times New Roman" panose="02020603050405020304" pitchFamily="18" charset="0"/>
              </a:rPr>
            </a:b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4" name="Picture 3" descr="DiagnosticReportPage"/>
          <p:cNvPicPr>
            <a:picLocks noChangeAspect="1"/>
          </p:cNvPicPr>
          <p:nvPr/>
        </p:nvPicPr>
        <p:blipFill>
          <a:blip r:embed="rId1"/>
          <a:stretch>
            <a:fillRect/>
          </a:stretch>
        </p:blipFill>
        <p:spPr>
          <a:xfrm>
            <a:off x="635" y="1144905"/>
            <a:ext cx="10692130" cy="641794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 y="435605"/>
            <a:ext cx="11030284" cy="1489710"/>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DIAGNOSTIC REPORT PAGE</a:t>
            </a:r>
            <a:br>
              <a:rPr lang="en-US" sz="4800" spc="-95" dirty="0">
                <a:latin typeface="Times New Roman" panose="02020603050405020304" pitchFamily="18" charset="0"/>
                <a:cs typeface="Times New Roman" panose="02020603050405020304" pitchFamily="18" charset="0"/>
              </a:rPr>
            </a:b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4" name="Picture 3" descr="DiagnosticReportPage"/>
          <p:cNvPicPr>
            <a:picLocks noChangeAspect="1"/>
          </p:cNvPicPr>
          <p:nvPr/>
        </p:nvPicPr>
        <p:blipFill>
          <a:blip r:embed="rId1"/>
          <a:stretch>
            <a:fillRect/>
          </a:stretch>
        </p:blipFill>
        <p:spPr>
          <a:xfrm>
            <a:off x="635" y="1144905"/>
            <a:ext cx="10692130" cy="641794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 y="435605"/>
            <a:ext cx="11030284" cy="1489710"/>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IMAGES OF GENERATED REPORT</a:t>
            </a:r>
            <a:br>
              <a:rPr lang="en-US" sz="4800" spc="-95" dirty="0">
                <a:latin typeface="Times New Roman" panose="02020603050405020304" pitchFamily="18" charset="0"/>
                <a:cs typeface="Times New Roman" panose="02020603050405020304" pitchFamily="18" charset="0"/>
              </a:rPr>
            </a:b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3" name="Picture 2" descr="Report1"/>
          <p:cNvPicPr>
            <a:picLocks noChangeAspect="1"/>
          </p:cNvPicPr>
          <p:nvPr/>
        </p:nvPicPr>
        <p:blipFill>
          <a:blip r:embed="rId1"/>
          <a:stretch>
            <a:fillRect/>
          </a:stretch>
        </p:blipFill>
        <p:spPr>
          <a:xfrm>
            <a:off x="635" y="1209040"/>
            <a:ext cx="10692765" cy="635381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 y="435605"/>
            <a:ext cx="11030284" cy="1489710"/>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IMAGES OF GENERATED REPORT</a:t>
            </a:r>
            <a:br>
              <a:rPr lang="en-US" sz="4800" spc="-95" dirty="0">
                <a:latin typeface="Times New Roman" panose="02020603050405020304" pitchFamily="18" charset="0"/>
                <a:cs typeface="Times New Roman" panose="02020603050405020304" pitchFamily="18" charset="0"/>
              </a:rPr>
            </a:b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4" name="Picture 3" descr="Report2"/>
          <p:cNvPicPr>
            <a:picLocks noChangeAspect="1"/>
          </p:cNvPicPr>
          <p:nvPr/>
        </p:nvPicPr>
        <p:blipFill>
          <a:blip r:embed="rId1"/>
          <a:stretch>
            <a:fillRect/>
          </a:stretch>
        </p:blipFill>
        <p:spPr>
          <a:xfrm>
            <a:off x="0" y="1185545"/>
            <a:ext cx="10694035" cy="637730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 y="435605"/>
            <a:ext cx="11030284" cy="1489710"/>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IMAGES OF GENERATED REPORT</a:t>
            </a:r>
            <a:br>
              <a:rPr lang="en-US" sz="4800" spc="-95" dirty="0">
                <a:latin typeface="Times New Roman" panose="02020603050405020304" pitchFamily="18" charset="0"/>
                <a:cs typeface="Times New Roman" panose="02020603050405020304" pitchFamily="18" charset="0"/>
              </a:rPr>
            </a:b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3" name="Picture 2" descr="Report3"/>
          <p:cNvPicPr>
            <a:picLocks noChangeAspect="1"/>
          </p:cNvPicPr>
          <p:nvPr/>
        </p:nvPicPr>
        <p:blipFill>
          <a:blip r:embed="rId1"/>
          <a:stretch>
            <a:fillRect/>
          </a:stretch>
        </p:blipFill>
        <p:spPr>
          <a:xfrm>
            <a:off x="635" y="1187450"/>
            <a:ext cx="10692765" cy="63754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 y="435605"/>
            <a:ext cx="11030284" cy="1489710"/>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ANOMALY VITALS DASHBOARD</a:t>
            </a:r>
            <a:br>
              <a:rPr lang="en-US" sz="4800" spc="-95" dirty="0">
                <a:latin typeface="Times New Roman" panose="02020603050405020304" pitchFamily="18" charset="0"/>
                <a:cs typeface="Times New Roman" panose="02020603050405020304" pitchFamily="18" charset="0"/>
              </a:rPr>
            </a:b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4" name="Picture 3" descr="AnomalyVitalsDashboard"/>
          <p:cNvPicPr>
            <a:picLocks noChangeAspect="1"/>
          </p:cNvPicPr>
          <p:nvPr/>
        </p:nvPicPr>
        <p:blipFill>
          <a:blip r:embed="rId1"/>
          <a:stretch>
            <a:fillRect/>
          </a:stretch>
        </p:blipFill>
        <p:spPr>
          <a:xfrm>
            <a:off x="635" y="1083310"/>
            <a:ext cx="10692765" cy="647954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 y="435605"/>
            <a:ext cx="11030284" cy="1489710"/>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PATIENT DATA QUERY PAGE</a:t>
            </a:r>
            <a:br>
              <a:rPr lang="en-US" sz="4800" spc="-95" dirty="0">
                <a:latin typeface="Times New Roman" panose="02020603050405020304" pitchFamily="18" charset="0"/>
                <a:cs typeface="Times New Roman" panose="02020603050405020304" pitchFamily="18" charset="0"/>
              </a:rPr>
            </a:b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3" name="Picture 2" descr="PatientQueryPage"/>
          <p:cNvPicPr>
            <a:picLocks noChangeAspect="1"/>
          </p:cNvPicPr>
          <p:nvPr/>
        </p:nvPicPr>
        <p:blipFill>
          <a:blip r:embed="rId1"/>
          <a:stretch>
            <a:fillRect/>
          </a:stretch>
        </p:blipFill>
        <p:spPr>
          <a:xfrm>
            <a:off x="0" y="1106170"/>
            <a:ext cx="10693400" cy="645731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 y="435605"/>
            <a:ext cx="11030284" cy="2228215"/>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PATIENT SUMMARY PAGE</a:t>
            </a:r>
            <a:br>
              <a:rPr lang="en-US" sz="4800" spc="-95" dirty="0">
                <a:latin typeface="Times New Roman" panose="02020603050405020304" pitchFamily="18" charset="0"/>
                <a:cs typeface="Times New Roman" panose="02020603050405020304" pitchFamily="18" charset="0"/>
              </a:rPr>
            </a:br>
            <a:br>
              <a:rPr lang="en-US" sz="4800" spc="-95" dirty="0">
                <a:latin typeface="Times New Roman" panose="02020603050405020304" pitchFamily="18" charset="0"/>
                <a:cs typeface="Times New Roman" panose="02020603050405020304" pitchFamily="18" charset="0"/>
              </a:rPr>
            </a:b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3" name="Picture 2" descr="PatientSummaryPage"/>
          <p:cNvPicPr>
            <a:picLocks noChangeAspect="1"/>
          </p:cNvPicPr>
          <p:nvPr/>
        </p:nvPicPr>
        <p:blipFill>
          <a:blip r:embed="rId1"/>
          <a:stretch>
            <a:fillRect/>
          </a:stretch>
        </p:blipFill>
        <p:spPr>
          <a:xfrm>
            <a:off x="0" y="1060450"/>
            <a:ext cx="10693400" cy="650176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 y="435605"/>
            <a:ext cx="11030284" cy="2228215"/>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PATIENT ANALYTICS PAGE</a:t>
            </a:r>
            <a:br>
              <a:rPr lang="en-US" sz="4800" spc="-95" dirty="0">
                <a:latin typeface="Times New Roman" panose="02020603050405020304" pitchFamily="18" charset="0"/>
                <a:cs typeface="Times New Roman" panose="02020603050405020304" pitchFamily="18" charset="0"/>
              </a:rPr>
            </a:br>
            <a:br>
              <a:rPr lang="en-US" sz="4800" spc="-95" dirty="0">
                <a:latin typeface="Times New Roman" panose="02020603050405020304" pitchFamily="18" charset="0"/>
                <a:cs typeface="Times New Roman" panose="02020603050405020304" pitchFamily="18" charset="0"/>
              </a:rPr>
            </a:b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4" name="Picture 3" descr="PatientHealthAnalytics"/>
          <p:cNvPicPr>
            <a:picLocks noChangeAspect="1"/>
          </p:cNvPicPr>
          <p:nvPr/>
        </p:nvPicPr>
        <p:blipFill>
          <a:blip r:embed="rId1"/>
          <a:stretch>
            <a:fillRect/>
          </a:stretch>
        </p:blipFill>
        <p:spPr>
          <a:xfrm>
            <a:off x="0" y="1080770"/>
            <a:ext cx="10693400" cy="648144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 y="435605"/>
            <a:ext cx="11030284" cy="2228215"/>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PATIENT ANALYTICS PAGE</a:t>
            </a:r>
            <a:br>
              <a:rPr lang="en-US" sz="4800" spc="-95" dirty="0">
                <a:latin typeface="Times New Roman" panose="02020603050405020304" pitchFamily="18" charset="0"/>
                <a:cs typeface="Times New Roman" panose="02020603050405020304" pitchFamily="18" charset="0"/>
              </a:rPr>
            </a:br>
            <a:br>
              <a:rPr lang="en-US" sz="4800" spc="-95" dirty="0">
                <a:latin typeface="Times New Roman" panose="02020603050405020304" pitchFamily="18" charset="0"/>
                <a:cs typeface="Times New Roman" panose="02020603050405020304" pitchFamily="18" charset="0"/>
              </a:rPr>
            </a:b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3" name="Picture 2" descr="Chart1"/>
          <p:cNvPicPr>
            <a:picLocks noChangeAspect="1"/>
          </p:cNvPicPr>
          <p:nvPr/>
        </p:nvPicPr>
        <p:blipFill>
          <a:blip r:embed="rId1"/>
          <a:stretch>
            <a:fillRect/>
          </a:stretch>
        </p:blipFill>
        <p:spPr>
          <a:xfrm>
            <a:off x="635" y="1143635"/>
            <a:ext cx="10692765" cy="641921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 y="435605"/>
            <a:ext cx="11030284" cy="2228215"/>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PATIENT ANALYTICS PAGE</a:t>
            </a:r>
            <a:br>
              <a:rPr lang="en-US" sz="4800" spc="-95" dirty="0">
                <a:latin typeface="Times New Roman" panose="02020603050405020304" pitchFamily="18" charset="0"/>
                <a:cs typeface="Times New Roman" panose="02020603050405020304" pitchFamily="18" charset="0"/>
              </a:rPr>
            </a:br>
            <a:br>
              <a:rPr lang="en-US" sz="4800" spc="-95" dirty="0">
                <a:latin typeface="Times New Roman" panose="02020603050405020304" pitchFamily="18" charset="0"/>
                <a:cs typeface="Times New Roman" panose="02020603050405020304" pitchFamily="18" charset="0"/>
              </a:rPr>
            </a:b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4" name="Picture 3" descr="Charts2"/>
          <p:cNvPicPr>
            <a:picLocks noChangeAspect="1"/>
          </p:cNvPicPr>
          <p:nvPr/>
        </p:nvPicPr>
        <p:blipFill>
          <a:blip r:embed="rId1"/>
          <a:stretch>
            <a:fillRect/>
          </a:stretch>
        </p:blipFill>
        <p:spPr>
          <a:xfrm>
            <a:off x="635" y="1204595"/>
            <a:ext cx="10692765" cy="635889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 y="435610"/>
            <a:ext cx="11030585" cy="1490345"/>
          </a:xfrm>
          <a:prstGeom prst="rect">
            <a:avLst/>
          </a:prstGeom>
        </p:spPr>
        <p:txBody>
          <a:bodyPr vert="horz" wrap="square" lIns="0" tIns="12700" rIns="0" bIns="0" rtlCol="0">
            <a:no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REPORT ON THE XIAOMI SMART BAND 8</a:t>
            </a:r>
            <a:br>
              <a:rPr lang="en-US" sz="4800" spc="-95" dirty="0">
                <a:latin typeface="Times New Roman" panose="02020603050405020304" pitchFamily="18" charset="0"/>
                <a:cs typeface="Times New Roman" panose="02020603050405020304" pitchFamily="18" charset="0"/>
              </a:rPr>
            </a:br>
            <a:br>
              <a:rPr lang="en-US" sz="4800" spc="-95" dirty="0">
                <a:latin typeface="Times New Roman" panose="02020603050405020304" pitchFamily="18" charset="0"/>
                <a:cs typeface="Times New Roman" panose="02020603050405020304" pitchFamily="18" charset="0"/>
              </a:rPr>
            </a:b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 Box 2"/>
          <p:cNvSpPr txBox="1"/>
          <p:nvPr/>
        </p:nvSpPr>
        <p:spPr>
          <a:xfrm>
            <a:off x="-11430" y="1955165"/>
            <a:ext cx="10713085" cy="4154170"/>
          </a:xfrm>
          <a:prstGeom prst="rect">
            <a:avLst/>
          </a:prstGeom>
          <a:noFill/>
        </p:spPr>
        <p:txBody>
          <a:bodyPr wrap="square" rtlCol="0">
            <a:spAutoFit/>
          </a:bodyPr>
          <a:p>
            <a:pPr marL="285750" indent="-285750">
              <a:buFont typeface="Wingdings" panose="05000000000000000000" charset="0"/>
              <a:buChar char="v"/>
            </a:pPr>
            <a:r>
              <a:rPr lang="en-US" sz="2400">
                <a:latin typeface="Times New Roman" panose="02020603050405020304" pitchFamily="18" charset="0"/>
                <a:cs typeface="Times New Roman" panose="02020603050405020304" pitchFamily="18" charset="0"/>
              </a:rPr>
              <a:t>Mode of Communication is Bluetooth</a:t>
            </a:r>
            <a:endParaRPr lang="en-US" sz="2400">
              <a:latin typeface="Times New Roman" panose="02020603050405020304" pitchFamily="18" charset="0"/>
              <a:cs typeface="Times New Roman" panose="02020603050405020304" pitchFamily="18" charset="0"/>
            </a:endParaRPr>
          </a:p>
          <a:p>
            <a:pPr marL="285750" indent="-285750">
              <a:buFont typeface="Wingdings" panose="05000000000000000000" charset="0"/>
              <a:buChar char="v"/>
            </a:pPr>
            <a:endParaRPr lang="en-US" sz="2400">
              <a:latin typeface="Times New Roman" panose="02020603050405020304" pitchFamily="18" charset="0"/>
              <a:cs typeface="Times New Roman" panose="02020603050405020304" pitchFamily="18" charset="0"/>
            </a:endParaRPr>
          </a:p>
          <a:p>
            <a:pPr marL="285750" indent="-285750">
              <a:buFont typeface="Wingdings" panose="05000000000000000000" charset="0"/>
              <a:buChar char="v"/>
            </a:pPr>
            <a:r>
              <a:rPr lang="en-US" sz="2400">
                <a:latin typeface="Times New Roman" panose="02020603050405020304" pitchFamily="18" charset="0"/>
                <a:cs typeface="Times New Roman" panose="02020603050405020304" pitchFamily="18" charset="0"/>
              </a:rPr>
              <a:t>Sensors include:</a:t>
            </a:r>
            <a:endParaRPr lang="en-US" sz="2400">
              <a:latin typeface="Times New Roman" panose="02020603050405020304" pitchFamily="18" charset="0"/>
              <a:cs typeface="Times New Roman" panose="02020603050405020304" pitchFamily="18" charset="0"/>
            </a:endParaRPr>
          </a:p>
          <a:p>
            <a:pPr marL="285750" indent="-285750">
              <a:buFont typeface="Wingdings" panose="05000000000000000000" charset="0"/>
              <a:buChar char="v"/>
            </a:pPr>
            <a:endParaRPr lang="en-US" sz="2400">
              <a:latin typeface="Times New Roman" panose="02020603050405020304" pitchFamily="18" charset="0"/>
              <a:cs typeface="Times New Roman" panose="02020603050405020304" pitchFamily="18" charset="0"/>
            </a:endParaRPr>
          </a:p>
          <a:p>
            <a:pPr marL="742950" lvl="1" indent="-285750">
              <a:buFont typeface="Wingdings" panose="05000000000000000000" charset="0"/>
              <a:buChar char="v"/>
            </a:pPr>
            <a:r>
              <a:rPr lang="en-US" sz="2400">
                <a:latin typeface="Times New Roman" panose="02020603050405020304" pitchFamily="18" charset="0"/>
                <a:cs typeface="Times New Roman" panose="02020603050405020304" pitchFamily="18" charset="0"/>
              </a:rPr>
              <a:t>3-axis accelerometer and 3-axis gyroscope   -       Motion Tracking and Activity Recognition</a:t>
            </a:r>
            <a:endParaRPr lang="en-US" sz="2400">
              <a:latin typeface="Times New Roman" panose="02020603050405020304" pitchFamily="18" charset="0"/>
              <a:cs typeface="Times New Roman" panose="02020603050405020304" pitchFamily="18" charset="0"/>
            </a:endParaRPr>
          </a:p>
          <a:p>
            <a:pPr marL="742950" lvl="1" indent="-285750">
              <a:buFont typeface="Wingdings" panose="05000000000000000000" charset="0"/>
              <a:buChar char="v"/>
            </a:pPr>
            <a:endParaRPr lang="en-US" sz="2400">
              <a:latin typeface="Times New Roman" panose="02020603050405020304" pitchFamily="18" charset="0"/>
              <a:cs typeface="Times New Roman" panose="02020603050405020304" pitchFamily="18" charset="0"/>
            </a:endParaRPr>
          </a:p>
          <a:p>
            <a:pPr marL="742950" lvl="1" indent="-285750">
              <a:buFont typeface="Wingdings" panose="05000000000000000000" charset="0"/>
              <a:buChar char="v"/>
            </a:pPr>
            <a:r>
              <a:rPr lang="en-US" sz="2400">
                <a:latin typeface="Times New Roman" panose="02020603050405020304" pitchFamily="18" charset="0"/>
                <a:cs typeface="Times New Roman" panose="02020603050405020304" pitchFamily="18" charset="0"/>
              </a:rPr>
              <a:t>PPG Sensor                             -          Heart Rate and Blood Oxygen Saturation</a:t>
            </a:r>
            <a:endParaRPr lang="en-US" sz="2400">
              <a:latin typeface="Times New Roman" panose="02020603050405020304" pitchFamily="18" charset="0"/>
              <a:cs typeface="Times New Roman" panose="02020603050405020304" pitchFamily="18" charset="0"/>
            </a:endParaRPr>
          </a:p>
          <a:p>
            <a:pPr lvl="1" indent="0">
              <a:buFont typeface="Wingdings" panose="05000000000000000000" charset="0"/>
              <a:buNone/>
            </a:pPr>
            <a:endParaRPr lang="en-US" sz="2400">
              <a:latin typeface="Times New Roman" panose="02020603050405020304" pitchFamily="18" charset="0"/>
              <a:cs typeface="Times New Roman" panose="02020603050405020304" pitchFamily="18" charset="0"/>
            </a:endParaRPr>
          </a:p>
          <a:p>
            <a:pPr marL="742950" lvl="1" indent="-285750">
              <a:buFont typeface="Wingdings" panose="05000000000000000000" charset="0"/>
              <a:buChar char="v"/>
            </a:pPr>
            <a:endParaRPr lang="en-US" sz="2400">
              <a:latin typeface="Times New Roman" panose="02020603050405020304" pitchFamily="18" charset="0"/>
              <a:cs typeface="Times New Roman" panose="02020603050405020304" pitchFamily="18" charset="0"/>
            </a:endParaRPr>
          </a:p>
          <a:p>
            <a:pPr marL="285750" lvl="0" indent="-285750">
              <a:buFont typeface="Wingdings" panose="05000000000000000000" charset="0"/>
              <a:buChar char="v"/>
            </a:pPr>
            <a:r>
              <a:rPr lang="en-US" sz="2400">
                <a:latin typeface="Times New Roman" panose="02020603050405020304" pitchFamily="18" charset="0"/>
                <a:cs typeface="Times New Roman" panose="02020603050405020304" pitchFamily="18" charset="0"/>
              </a:rPr>
              <a:t>Circuit Is Not Publicly Accessible</a:t>
            </a:r>
            <a:endParaRPr 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 y="435610"/>
            <a:ext cx="11030585" cy="1490345"/>
          </a:xfrm>
          <a:prstGeom prst="rect">
            <a:avLst/>
          </a:prstGeom>
        </p:spPr>
        <p:txBody>
          <a:bodyPr vert="horz" wrap="square" lIns="0" tIns="12700" rIns="0" bIns="0" rtlCol="0">
            <a:no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PROGRESS ON SIMULATION</a:t>
            </a:r>
            <a:br>
              <a:rPr lang="en-US" sz="4800" spc="-95" dirty="0">
                <a:latin typeface="Times New Roman" panose="02020603050405020304" pitchFamily="18" charset="0"/>
                <a:cs typeface="Times New Roman" panose="02020603050405020304" pitchFamily="18" charset="0"/>
              </a:rPr>
            </a:br>
            <a:br>
              <a:rPr lang="en-US" sz="4800" spc="-95" dirty="0">
                <a:latin typeface="Times New Roman" panose="02020603050405020304" pitchFamily="18" charset="0"/>
                <a:cs typeface="Times New Roman" panose="02020603050405020304" pitchFamily="18" charset="0"/>
              </a:rPr>
            </a:b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4" name="Picture 3" descr="TemperatureSensorWithESP32"/>
          <p:cNvPicPr>
            <a:picLocks noChangeAspect="1"/>
          </p:cNvPicPr>
          <p:nvPr/>
        </p:nvPicPr>
        <p:blipFill>
          <a:blip r:embed="rId1"/>
          <a:stretch>
            <a:fillRect/>
          </a:stretch>
        </p:blipFill>
        <p:spPr>
          <a:xfrm>
            <a:off x="635" y="1243330"/>
            <a:ext cx="10692765" cy="631952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670" y="733662"/>
            <a:ext cx="7707630" cy="923330"/>
          </a:xfrm>
        </p:spPr>
        <p:txBody>
          <a:bodyPr wrap="square" lIns="0" tIns="0" rIns="0" bIns="0" anchor="t">
            <a:spAutoFit/>
          </a:bodyPr>
          <a:lstStyle/>
          <a:p>
            <a:r>
              <a:rPr lang="en-GB" sz="6000">
                <a:latin typeface="Times New Roman" panose="02020603050405020304"/>
                <a:cs typeface="Times New Roman" panose="02020603050405020304"/>
              </a:rPr>
              <a:t>MISCELLANEOUS</a:t>
            </a:r>
            <a:endParaRPr lang="en-US" sz="6000">
              <a:latin typeface="Times New Roman" panose="02020603050405020304"/>
              <a:cs typeface="Times New Roman" panose="02020603050405020304"/>
            </a:endParaRPr>
          </a:p>
        </p:txBody>
      </p:sp>
      <p:sp>
        <p:nvSpPr>
          <p:cNvPr id="3" name="Text Placeholder 2"/>
          <p:cNvSpPr>
            <a:spLocks noGrp="1"/>
          </p:cNvSpPr>
          <p:nvPr>
            <p:ph type="body" idx="1"/>
          </p:nvPr>
        </p:nvSpPr>
        <p:spPr>
          <a:xfrm>
            <a:off x="393700" y="3009970"/>
            <a:ext cx="10363200" cy="2477601"/>
          </a:xfrm>
        </p:spPr>
        <p:txBody>
          <a:bodyPr/>
          <a:lstStyle/>
          <a:p>
            <a:r>
              <a:rPr lang="en-GB" sz="2600"/>
              <a:t>           </a:t>
            </a:r>
            <a:r>
              <a:rPr lang="en-GB" sz="8000" b="1"/>
              <a:t> </a:t>
            </a:r>
            <a:endParaRPr lang="en-GB" sz="8000" b="1"/>
          </a:p>
          <a:p>
            <a:pPr algn="ctr"/>
            <a:r>
              <a:rPr lang="en-GB" sz="5500" b="1">
                <a:latin typeface="Times New Roman" panose="02020603050405020304" pitchFamily="18" charset="0"/>
                <a:cs typeface="Times New Roman" panose="02020603050405020304" pitchFamily="18" charset="0"/>
              </a:rPr>
              <a:t>QUESTIONS/FEEDBACK</a:t>
            </a:r>
            <a:endParaRPr lang="en-GB" sz="5500" b="1">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6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9960</Words>
  <Application>WPS Slides</Application>
  <PresentationFormat>Custom</PresentationFormat>
  <Paragraphs>1451</Paragraphs>
  <Slides>42</Slides>
  <Notes>7</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42</vt:i4>
      </vt:variant>
    </vt:vector>
  </HeadingPairs>
  <TitlesOfParts>
    <vt:vector size="62" baseType="lpstr">
      <vt:lpstr>Arial</vt:lpstr>
      <vt:lpstr>SimSun</vt:lpstr>
      <vt:lpstr>Wingdings</vt:lpstr>
      <vt:lpstr>Arial</vt:lpstr>
      <vt:lpstr>Times New Roman</vt:lpstr>
      <vt:lpstr>Lora</vt:lpstr>
      <vt:lpstr>Segoe Print</vt:lpstr>
      <vt:lpstr>Times New Roman</vt:lpstr>
      <vt:lpstr>Inter</vt:lpstr>
      <vt:lpstr>Inter</vt:lpstr>
      <vt:lpstr>Wingdings</vt:lpstr>
      <vt:lpstr>Wingdings,Sans-Serif</vt:lpstr>
      <vt:lpstr>Calibri</vt:lpstr>
      <vt:lpstr>Microsoft YaHei</vt:lpstr>
      <vt:lpstr>Arial Unicode MS</vt:lpstr>
      <vt:lpstr>Aptos</vt:lpstr>
      <vt:lpstr>Segoe UI</vt:lpstr>
      <vt:lpstr>Tahoma</vt:lpstr>
      <vt:lpstr>Wingdings 3</vt:lpstr>
      <vt:lpstr>Office Theme</vt:lpstr>
      <vt:lpstr>DEVELOPMENT OF INTEGRATED WEARABLE DEVICE FOR REMOTE MONITORING OF PREGNANT WOMEN IN GHANA</vt:lpstr>
      <vt:lpstr>COLLABORATORS</vt:lpstr>
      <vt:lpstr>TASK DELEGATION</vt:lpstr>
      <vt:lpstr>AI MODEL PROGRESS </vt:lpstr>
      <vt:lpstr>DATASET OVERVIEW</vt:lpstr>
      <vt:lpstr>FEATURES</vt:lpstr>
      <vt:lpstr>DATASET OVERVIEW</vt:lpstr>
      <vt:lpstr>FEATURES</vt:lpstr>
      <vt:lpstr>DATASET OVERVIEW</vt:lpstr>
      <vt:lpstr>FEATURES</vt:lpstr>
      <vt:lpstr>DATA PREPROCESSING</vt:lpstr>
      <vt:lpstr>MODEL SELECTION</vt:lpstr>
      <vt:lpstr>TIME TAKEN (S)</vt:lpstr>
      <vt:lpstr>MODEL SELECTION</vt:lpstr>
      <vt:lpstr>TIME TAKEN (S)</vt:lpstr>
      <vt:lpstr>MODEL SELECTION</vt:lpstr>
      <vt:lpstr>TIME TAKEN (S)</vt:lpstr>
      <vt:lpstr>BRIEF DESCRIPTION OF MODELS</vt:lpstr>
      <vt:lpstr>MACHINE LEARNING WORKFLOW</vt:lpstr>
      <vt:lpstr>RESULTS</vt:lpstr>
      <vt:lpstr>RESULTS</vt:lpstr>
      <vt:lpstr>RESULTS</vt:lpstr>
      <vt:lpstr>LIMITATIONS</vt:lpstr>
      <vt:lpstr>CREATE PRESCRIPTION PAGE</vt:lpstr>
      <vt:lpstr>VIEW PRESCRIPTIONS PAGE</vt:lpstr>
      <vt:lpstr>REAL-TIME CHAT PAGE </vt:lpstr>
      <vt:lpstr>REAL-TIME CHAT PAGE </vt:lpstr>
      <vt:lpstr>CHATBOT PAGE </vt:lpstr>
      <vt:lpstr>DIAGNOSTIC REPORT PAGE </vt:lpstr>
      <vt:lpstr>DIAGNOSTIC REPORT PAGE </vt:lpstr>
      <vt:lpstr>IMAGES OF GENERATED REPORT </vt:lpstr>
      <vt:lpstr>IMAGES OF GENERATED REPORT </vt:lpstr>
      <vt:lpstr>IMAGES OF GENERATED REPORT </vt:lpstr>
      <vt:lpstr>ANOMALY VITALS DASHBOARD </vt:lpstr>
      <vt:lpstr>PATIENT DATA QUERY PAGE </vt:lpstr>
      <vt:lpstr>PATIENT SUMMARY PAGE  </vt:lpstr>
      <vt:lpstr>PATIENT ANALYTICS PAGE  </vt:lpstr>
      <vt:lpstr>PATIENT ANALYTICS PAGE  </vt:lpstr>
      <vt:lpstr>PATIENT ANALYTICS PAGE  </vt:lpstr>
      <vt:lpstr>REPORT ON THE XIAOMI SMART BAND 8  </vt:lpstr>
      <vt:lpstr>REPORT ON THE XIAOMI SMART BAND 8  </vt:lpstr>
      <vt:lpstr>MISCELLANEOUS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UG Powerpoint template</dc:title>
  <dc:creator>Graham</dc:creator>
  <cp:lastModifiedBy>Nathaniel Adika</cp:lastModifiedBy>
  <cp:revision>863</cp:revision>
  <dcterms:created xsi:type="dcterms:W3CDTF">2021-02-07T15:10:00Z</dcterms:created>
  <dcterms:modified xsi:type="dcterms:W3CDTF">2025-04-25T09:34:12Z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2014-10-30T00:00:00Z</vt:filetime>
  </property>
  <property fmtid="{D5CDD505-2E9C-101B-9397-08002B2CF9AE}" pid="3" name="Creator">
    <vt:lpwstr>CorelDRAW</vt:lpwstr>
  </property>
  <property fmtid="{D5CDD505-2E9C-101B-9397-08002B2CF9AE}" pid="4" name="LastSaved">
    <vt:filetime>2021-02-07T00:00:00Z</vt:filetime>
  </property>
  <property fmtid="{D5CDD505-2E9C-101B-9397-08002B2CF9AE}" pid="5" name="ICV">
    <vt:lpwstr>B9CF8EC6520A49109E2C15823BACF1F9_13</vt:lpwstr>
  </property>
  <property fmtid="{D5CDD505-2E9C-101B-9397-08002B2CF9AE}" pid="6" name="KSOProductBuildVer">
    <vt:lpwstr>1033-12.2.0.20795</vt:lpwstr>
  </property>
</Properties>
</file>